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7" r:id="rId6"/>
    <p:sldId id="260" r:id="rId7"/>
    <p:sldId id="268" r:id="rId8"/>
    <p:sldId id="261" r:id="rId9"/>
    <p:sldId id="262" r:id="rId10"/>
    <p:sldId id="263" r:id="rId11"/>
    <p:sldId id="264" r:id="rId12"/>
    <p:sldId id="265" r:id="rId13"/>
    <p:sldId id="269" r:id="rId14"/>
    <p:sldId id="270" r:id="rId15"/>
    <p:sldId id="271" r:id="rId16"/>
    <p:sldId id="266" r:id="rId1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8" d="100"/>
          <a:sy n="78" d="100"/>
        </p:scale>
        <p:origin x="68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E2D3A"/>
                </a:solidFill>
                <a:latin typeface="Arial"/>
              </a:defRPr>
            </a:pPr>
            <a:r>
              <a:rPr lang="en-GB" sz="1200" b="0" i="0" u="none" strike="noStrike">
                <a:solidFill>
                  <a:srgbClr val="1E2D3A"/>
                </a:solidFill>
                <a:latin typeface="Arial"/>
              </a:rPr>
              <a:t>Pearson Correlation Matrix (Key Variables)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GDP–CO₂</c:v>
                </c:pt>
              </c:strCache>
            </c:strRef>
          </c:tx>
          <c:spPr>
            <a:solidFill>
              <a:srgbClr val="E74C3C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E2D3A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Sheet1!$A$2:$A$2</c:f>
              <c:strCache>
                <c:ptCount val="1"/>
                <c:pt idx="0">
                  <c:v>Correlation r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0.97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110-4DE2-A52C-140368FFED57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Pop–CO₂</c:v>
                </c:pt>
              </c:strCache>
            </c:strRef>
          </c:tx>
          <c:spPr>
            <a:solidFill>
              <a:srgbClr val="1C7293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E2D3A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Sheet1!$A$2:$A$2</c:f>
              <c:strCache>
                <c:ptCount val="1"/>
                <c:pt idx="0">
                  <c:v>Correlation r</c:v>
                </c:pt>
              </c:strCache>
            </c:strRef>
          </c:cat>
          <c:val>
            <c:numRef>
              <c:f>Sheet1!$C$2:$C$2</c:f>
              <c:numCache>
                <c:formatCode>General</c:formatCode>
                <c:ptCount val="1"/>
                <c:pt idx="0">
                  <c:v>0.91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7110-4DE2-A52C-140368FFED57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Pop–GDP</c:v>
                </c:pt>
              </c:strCache>
            </c:strRef>
          </c:tx>
          <c:spPr>
            <a:solidFill>
              <a:srgbClr val="27AE60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E2D3A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Sheet1!$A$2:$A$2</c:f>
              <c:strCache>
                <c:ptCount val="1"/>
                <c:pt idx="0">
                  <c:v>Correlation r</c:v>
                </c:pt>
              </c:strCache>
            </c:strRef>
          </c:cat>
          <c:val>
            <c:numRef>
              <c:f>Sheet1!$D$2:$D$2</c:f>
              <c:numCache>
                <c:formatCode>General</c:formatCode>
                <c:ptCount val="1"/>
                <c:pt idx="0">
                  <c:v>0.91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7110-4DE2-A52C-140368FFED57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Year–CO₂</c:v>
                </c:pt>
              </c:strCache>
            </c:strRef>
          </c:tx>
          <c:spPr>
            <a:solidFill>
              <a:srgbClr val="AAAAAA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E2D3A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Sheet1!$A$2:$A$2</c:f>
              <c:strCache>
                <c:ptCount val="1"/>
                <c:pt idx="0">
                  <c:v>Correlation r</c:v>
                </c:pt>
              </c:strCache>
            </c:strRef>
          </c:cat>
          <c:val>
            <c:numRef>
              <c:f>Sheet1!$E$2:$E$2</c:f>
              <c:numCache>
                <c:formatCode>General</c:formatCode>
                <c:ptCount val="1"/>
                <c:pt idx="0">
                  <c:v>7.0000000000000007E-2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7110-4DE2-A52C-140368FFED5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E2D3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E2D3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722506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3B4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5074920"/>
            <a:ext cx="9144000" cy="73152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8800" y="137160"/>
            <a:ext cx="1579980" cy="557784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737360" y="118872"/>
            <a:ext cx="5669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AADD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XIV International Conference on</a:t>
            </a:r>
            <a:endParaRPr lang="en-US" sz="1000" dirty="0"/>
          </a:p>
        </p:txBody>
      </p:sp>
      <p:sp>
        <p:nvSpPr>
          <p:cNvPr id="7" name="Text 3"/>
          <p:cNvSpPr/>
          <p:nvPr/>
        </p:nvSpPr>
        <p:spPr>
          <a:xfrm>
            <a:off x="1371600" y="301752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FRONTIERS OF INTELLIGENT COMPUTING: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THEORY AND APPLICATIONS (FICTA-2026)</a:t>
            </a:r>
            <a:endParaRPr lang="en-US" sz="1100" dirty="0"/>
          </a:p>
        </p:txBody>
      </p:sp>
      <p:sp>
        <p:nvSpPr>
          <p:cNvPr id="8" name="Shape 4"/>
          <p:cNvSpPr/>
          <p:nvPr/>
        </p:nvSpPr>
        <p:spPr>
          <a:xfrm>
            <a:off x="3474720" y="786384"/>
            <a:ext cx="2194560" cy="274320"/>
          </a:xfrm>
          <a:prstGeom prst="roundRect">
            <a:avLst>
              <a:gd name="adj" fmla="val 16667"/>
            </a:avLst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Text 5"/>
          <p:cNvSpPr/>
          <p:nvPr/>
        </p:nvSpPr>
        <p:spPr>
          <a:xfrm>
            <a:off x="3474720" y="786384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3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ID: 226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365760" y="1115568"/>
            <a:ext cx="84124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Forecasting Agricultural Greenhouse Gas Emissions</a:t>
            </a:r>
            <a:endParaRPr lang="en-US" sz="2400" dirty="0"/>
          </a:p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Multivariate Machine Learning</a:t>
            </a:r>
            <a:endParaRPr lang="en-US" sz="2400" dirty="0"/>
          </a:p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Medallion Lakehouse Architecture</a:t>
            </a:r>
            <a:endParaRPr lang="en-US" sz="2400" dirty="0"/>
          </a:p>
        </p:txBody>
      </p:sp>
      <p:sp>
        <p:nvSpPr>
          <p:cNvPr id="11" name="Shape 7"/>
          <p:cNvSpPr/>
          <p:nvPr/>
        </p:nvSpPr>
        <p:spPr>
          <a:xfrm>
            <a:off x="1371600" y="2578608"/>
            <a:ext cx="6400800" cy="45720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Text 8"/>
          <p:cNvSpPr/>
          <p:nvPr/>
        </p:nvSpPr>
        <p:spPr>
          <a:xfrm>
            <a:off x="365760" y="2670048"/>
            <a:ext cx="8412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Authors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365760" y="2907792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Rajesh Kumar Singh</a:t>
            </a:r>
            <a:r>
              <a:rPr lang="en-US" sz="1400" dirty="0">
                <a:solidFill>
                  <a:srgbClr val="AADD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¹  |  </a:t>
            </a: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 Pramod Kumar Yadav</a:t>
            </a:r>
            <a:r>
              <a:rPr lang="en-US" sz="1400" dirty="0">
                <a:solidFill>
                  <a:srgbClr val="AADD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²  |  </a:t>
            </a: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Rahul Kumar</a:t>
            </a:r>
            <a:r>
              <a:rPr lang="en-US" sz="1400" dirty="0">
                <a:solidFill>
                  <a:srgbClr val="AADD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³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365760" y="3200400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¹</a:t>
            </a:r>
            <a:r>
              <a:rPr lang="en-US" sz="1000" dirty="0">
                <a:solidFill>
                  <a:srgbClr val="CCE8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Independent Researcher | Tata Consultancy Services, London, UK</a:t>
            </a:r>
            <a:r>
              <a:rPr lang="en-US" sz="10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²</a:t>
            </a:r>
            <a:r>
              <a:rPr lang="en-US" sz="1000" dirty="0">
                <a:solidFill>
                  <a:srgbClr val="CCE8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NIT Srinagar, India</a:t>
            </a:r>
            <a:r>
              <a:rPr lang="en-US" sz="10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³</a:t>
            </a:r>
            <a:r>
              <a:rPr lang="en-US" sz="1000" dirty="0">
                <a:solidFill>
                  <a:srgbClr val="CCE8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Independent Researcher | Accenture, India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2011680" y="3493008"/>
            <a:ext cx="5120640" cy="457200"/>
          </a:xfrm>
          <a:prstGeom prst="rect">
            <a:avLst/>
          </a:prstGeom>
          <a:solidFill>
            <a:srgbClr val="153045"/>
          </a:solidFill>
          <a:ln w="19050">
            <a:solidFill>
              <a:srgbClr val="E8A838"/>
            </a:solidFill>
            <a:prstDash val="solid"/>
          </a:ln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6" name="Text 12"/>
          <p:cNvSpPr/>
          <p:nvPr/>
        </p:nvSpPr>
        <p:spPr>
          <a:xfrm>
            <a:off x="2011680" y="3493008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  Presenting Author: </a:t>
            </a: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Rajesh Kumar Singh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2011680" y="3950208"/>
            <a:ext cx="5120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00" dirty="0">
                <a:solidFill>
                  <a:srgbClr val="AADD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Researcher | </a:t>
            </a:r>
            <a:r>
              <a:rPr lang="en-US" sz="900" dirty="0">
                <a:solidFill>
                  <a:srgbClr val="CCE8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Tata Consultancy Services, London, UK</a:t>
            </a:r>
            <a:r>
              <a:rPr lang="en-US" sz="9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r>
              <a:rPr lang="en-US" sz="900" dirty="0">
                <a:solidFill>
                  <a:srgbClr val="AADD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✉ errajeshcs@gmail.com</a:t>
            </a:r>
            <a:endParaRPr lang="en-US" sz="900" dirty="0"/>
          </a:p>
        </p:txBody>
      </p:sp>
      <p:sp>
        <p:nvSpPr>
          <p:cNvPr id="18" name="Text 14"/>
          <p:cNvSpPr/>
          <p:nvPr/>
        </p:nvSpPr>
        <p:spPr>
          <a:xfrm>
            <a:off x="365760" y="4526280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AADD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08–09 June 2026  |  London Metropolitan University, London, UK</a:t>
            </a:r>
            <a:endParaRPr lang="en-US" sz="1000" dirty="0"/>
          </a:p>
        </p:txBody>
      </p:sp>
      <p:sp>
        <p:nvSpPr>
          <p:cNvPr id="19" name="Text 15"/>
          <p:cNvSpPr/>
          <p:nvPr/>
        </p:nvSpPr>
        <p:spPr>
          <a:xfrm>
            <a:off x="365760" y="4773168"/>
            <a:ext cx="8412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and Data Science (AI&amp;DS) Research Group, London Metropolitan University</a:t>
            </a:r>
            <a:endParaRPr lang="en-US" sz="900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B8816269-7245-5E35-2F27-054223C0771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75220" y="137160"/>
            <a:ext cx="1579981" cy="49925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E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D3B4F"/>
          </a:solidFill>
          <a:ln w="12700">
            <a:solidFill>
              <a:srgbClr val="0D3B4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621792"/>
            <a:ext cx="9144000" cy="54864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274320" y="0"/>
            <a:ext cx="7772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0D3B4F"/>
          </a:solidFill>
          <a:ln w="12700">
            <a:solidFill>
              <a:srgbClr val="0D3B4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182880" y="4983480"/>
            <a:ext cx="8778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AA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FICTA-2026 | Paper ID: 226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228600" y="804672"/>
            <a:ext cx="42976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EE"/>
            </a:solidFill>
            <a:prstDash val="solid"/>
          </a:ln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8" name="Shape 6"/>
          <p:cNvSpPr/>
          <p:nvPr/>
        </p:nvSpPr>
        <p:spPr>
          <a:xfrm>
            <a:off x="228600" y="804672"/>
            <a:ext cx="384048" cy="841248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228600" y="804672"/>
            <a:ext cx="38404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85800" y="850392"/>
            <a:ext cx="3794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85800" y="1188720"/>
            <a:ext cx="3794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Climate Change &amp; Agricultural Emissions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28600" y="1792224"/>
            <a:ext cx="42976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EE"/>
            </a:solidFill>
            <a:prstDash val="solid"/>
          </a:ln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3" name="Shape 11"/>
          <p:cNvSpPr/>
          <p:nvPr/>
        </p:nvSpPr>
        <p:spPr>
          <a:xfrm>
            <a:off x="228600" y="1792224"/>
            <a:ext cx="384048" cy="841248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Text 12"/>
          <p:cNvSpPr/>
          <p:nvPr/>
        </p:nvSpPr>
        <p:spPr>
          <a:xfrm>
            <a:off x="228600" y="1792224"/>
            <a:ext cx="38404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85800" y="1837944"/>
            <a:ext cx="3794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Objectives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85800" y="2176272"/>
            <a:ext cx="3794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Goals, Scope &amp; Research Contributions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28600" y="2779776"/>
            <a:ext cx="42976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EE"/>
            </a:solidFill>
            <a:prstDash val="solid"/>
          </a:ln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8" name="Shape 16"/>
          <p:cNvSpPr/>
          <p:nvPr/>
        </p:nvSpPr>
        <p:spPr>
          <a:xfrm>
            <a:off x="228600" y="2779776"/>
            <a:ext cx="384048" cy="841248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" name="Text 17"/>
          <p:cNvSpPr/>
          <p:nvPr/>
        </p:nvSpPr>
        <p:spPr>
          <a:xfrm>
            <a:off x="228600" y="2779776"/>
            <a:ext cx="38404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85800" y="2825496"/>
            <a:ext cx="3794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85800" y="3163824"/>
            <a:ext cx="3794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Medallion Lakehouse (Bronze → Silver → Gold)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28600" y="3767328"/>
            <a:ext cx="42976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EE"/>
            </a:solidFill>
            <a:prstDash val="solid"/>
          </a:ln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3" name="Shape 21"/>
          <p:cNvSpPr/>
          <p:nvPr/>
        </p:nvSpPr>
        <p:spPr>
          <a:xfrm>
            <a:off x="228600" y="3767328"/>
            <a:ext cx="384048" cy="841248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4" name="Text 22"/>
          <p:cNvSpPr/>
          <p:nvPr/>
        </p:nvSpPr>
        <p:spPr>
          <a:xfrm>
            <a:off x="228600" y="3767328"/>
            <a:ext cx="38404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85800" y="3813048"/>
            <a:ext cx="3794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85800" y="4151376"/>
            <a:ext cx="3794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Correlations, Decomposition &amp; Stationarity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709160" y="804672"/>
            <a:ext cx="42976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EE"/>
            </a:solidFill>
            <a:prstDash val="solid"/>
          </a:ln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8" name="Shape 26"/>
          <p:cNvSpPr/>
          <p:nvPr/>
        </p:nvSpPr>
        <p:spPr>
          <a:xfrm>
            <a:off x="4709160" y="804672"/>
            <a:ext cx="384048" cy="841248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9" name="Text 27"/>
          <p:cNvSpPr/>
          <p:nvPr/>
        </p:nvSpPr>
        <p:spPr>
          <a:xfrm>
            <a:off x="4709160" y="804672"/>
            <a:ext cx="38404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5166360" y="850392"/>
            <a:ext cx="3794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Modeling Approaches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166360" y="1188720"/>
            <a:ext cx="3794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Strategies: ML, ARIMA, Prophet, LSTM/VAR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709160" y="1792224"/>
            <a:ext cx="42976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EE"/>
            </a:solidFill>
            <a:prstDash val="solid"/>
          </a:ln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33" name="Shape 31"/>
          <p:cNvSpPr/>
          <p:nvPr/>
        </p:nvSpPr>
        <p:spPr>
          <a:xfrm>
            <a:off x="4709160" y="1792224"/>
            <a:ext cx="384048" cy="841248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4" name="Text 32"/>
          <p:cNvSpPr/>
          <p:nvPr/>
        </p:nvSpPr>
        <p:spPr>
          <a:xfrm>
            <a:off x="4709160" y="1792224"/>
            <a:ext cx="38404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5166360" y="1837944"/>
            <a:ext cx="3794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Model Comparison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5166360" y="2176272"/>
            <a:ext cx="3794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Table &amp; Key Findings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709160" y="2779776"/>
            <a:ext cx="42976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EE"/>
            </a:solidFill>
            <a:prstDash val="solid"/>
          </a:ln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38" name="Shape 36"/>
          <p:cNvSpPr/>
          <p:nvPr/>
        </p:nvSpPr>
        <p:spPr>
          <a:xfrm>
            <a:off x="4709160" y="2779776"/>
            <a:ext cx="384048" cy="841248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9" name="Text 37"/>
          <p:cNvSpPr/>
          <p:nvPr/>
        </p:nvSpPr>
        <p:spPr>
          <a:xfrm>
            <a:off x="4709160" y="2779776"/>
            <a:ext cx="38404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5166360" y="2825496"/>
            <a:ext cx="3794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Dashboards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5166360" y="3163824"/>
            <a:ext cx="3794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Web-Based Policy Tools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4709160" y="3767328"/>
            <a:ext cx="42976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EE"/>
            </a:solidFill>
            <a:prstDash val="solid"/>
          </a:ln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43" name="Shape 41"/>
          <p:cNvSpPr/>
          <p:nvPr/>
        </p:nvSpPr>
        <p:spPr>
          <a:xfrm>
            <a:off x="4709160" y="3767328"/>
            <a:ext cx="384048" cy="841248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4" name="Text 42"/>
          <p:cNvSpPr/>
          <p:nvPr/>
        </p:nvSpPr>
        <p:spPr>
          <a:xfrm>
            <a:off x="4709160" y="3767328"/>
            <a:ext cx="38404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5166360" y="3813048"/>
            <a:ext cx="3794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Impact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5166360" y="4151376"/>
            <a:ext cx="3794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Contributions &amp; Future Directions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E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D3B4F"/>
          </a:solidFill>
          <a:ln w="12700">
            <a:solidFill>
              <a:srgbClr val="0D3B4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621792"/>
            <a:ext cx="9144000" cy="54864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274320" y="0"/>
            <a:ext cx="7772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Challenge: Climate Change &amp; Agriculture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0D3B4F"/>
          </a:solidFill>
          <a:ln w="12700">
            <a:solidFill>
              <a:srgbClr val="0D3B4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182880" y="4983480"/>
            <a:ext cx="8778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AA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FICTA-2026 | Paper ID: 226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228600" y="804672"/>
            <a:ext cx="27432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EE"/>
            </a:solidFill>
            <a:prstDash val="solid"/>
          </a:ln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8" name="Shape 6"/>
          <p:cNvSpPr/>
          <p:nvPr/>
        </p:nvSpPr>
        <p:spPr>
          <a:xfrm>
            <a:off x="228600" y="804672"/>
            <a:ext cx="2743200" cy="73152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228600" y="877824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10–12%</a:t>
            </a:r>
            <a:endParaRPr lang="en-US" sz="3800" dirty="0"/>
          </a:p>
        </p:txBody>
      </p:sp>
      <p:sp>
        <p:nvSpPr>
          <p:cNvPr id="10" name="Text 8"/>
          <p:cNvSpPr/>
          <p:nvPr/>
        </p:nvSpPr>
        <p:spPr>
          <a:xfrm>
            <a:off x="228600" y="1828800"/>
            <a:ext cx="2743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(Man-made –Pollutions )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radiative forcing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Agriculture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00400" y="804672"/>
            <a:ext cx="27432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EE"/>
            </a:solidFill>
            <a:prstDash val="solid"/>
          </a:ln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2" name="Shape 10"/>
          <p:cNvSpPr/>
          <p:nvPr/>
        </p:nvSpPr>
        <p:spPr>
          <a:xfrm>
            <a:off x="3200400" y="804672"/>
            <a:ext cx="2743200" cy="73152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/>
          <p:nvPr/>
        </p:nvSpPr>
        <p:spPr>
          <a:xfrm>
            <a:off x="3200400" y="877824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9.7B</a:t>
            </a:r>
            <a:endParaRPr lang="en-US" sz="3800" dirty="0"/>
          </a:p>
        </p:txBody>
      </p:sp>
      <p:sp>
        <p:nvSpPr>
          <p:cNvPr id="14" name="Text 12"/>
          <p:cNvSpPr/>
          <p:nvPr/>
        </p:nvSpPr>
        <p:spPr>
          <a:xfrm>
            <a:off x="3200400" y="1828800"/>
            <a:ext cx="2743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World population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2050 requiring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food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172200" y="804672"/>
            <a:ext cx="27432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EE"/>
            </a:solidFill>
            <a:prstDash val="solid"/>
          </a:ln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6" name="Shape 14"/>
          <p:cNvSpPr/>
          <p:nvPr/>
        </p:nvSpPr>
        <p:spPr>
          <a:xfrm>
            <a:off x="6172200" y="804672"/>
            <a:ext cx="2743200" cy="73152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Text 15"/>
          <p:cNvSpPr/>
          <p:nvPr/>
        </p:nvSpPr>
        <p:spPr>
          <a:xfrm>
            <a:off x="6172200" y="877824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25%</a:t>
            </a:r>
            <a:endParaRPr lang="en-US" sz="3800" dirty="0"/>
          </a:p>
        </p:txBody>
      </p:sp>
      <p:sp>
        <p:nvSpPr>
          <p:cNvPr id="18" name="Text 16"/>
          <p:cNvSpPr/>
          <p:nvPr/>
        </p:nvSpPr>
        <p:spPr>
          <a:xfrm>
            <a:off x="6172200" y="1828800"/>
            <a:ext cx="2743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Agriculture + Land Use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of total GHG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emissions (IPCC)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28600" y="2816352"/>
            <a:ext cx="8686800" cy="1417320"/>
          </a:xfrm>
          <a:prstGeom prst="rect">
            <a:avLst/>
          </a:prstGeom>
          <a:solidFill>
            <a:srgbClr val="0D3B4F"/>
          </a:solidFill>
          <a:ln w="12700">
            <a:solidFill>
              <a:srgbClr val="0D3B4F"/>
            </a:solidFill>
            <a:prstDash val="solid"/>
          </a:ln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0" name="Text 18"/>
          <p:cNvSpPr/>
          <p:nvPr/>
        </p:nvSpPr>
        <p:spPr>
          <a:xfrm>
            <a:off x="365760" y="286207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Global Dilemma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65760" y="3136392"/>
            <a:ext cx="8412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Agriculture is the bedrock of global food security, yet also a major contributor to GHGs — releasing </a:t>
            </a:r>
            <a:r>
              <a:rPr lang="en-US" sz="12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Methane (CH₄) and Nitrous Oxide (N₂O) </a:t>
            </a:r>
            <a:r>
              <a:rPr lang="en-US" sz="1200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through livestock, manure management, and fertilizer use. The central challenge: </a:t>
            </a: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 we feed a growing world without compromising planetary health?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E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D3B4F"/>
          </a:solidFill>
          <a:ln w="12700">
            <a:solidFill>
              <a:srgbClr val="0D3B4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621792"/>
            <a:ext cx="9144000" cy="54864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274320" y="0"/>
            <a:ext cx="7772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Objectives &amp; Contributions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0D3B4F"/>
          </a:solidFill>
          <a:ln w="12700">
            <a:solidFill>
              <a:srgbClr val="0D3B4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182880" y="4983480"/>
            <a:ext cx="8778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AA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FICTA-2026 | Paper ID: 226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228600" y="804672"/>
            <a:ext cx="86868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EE"/>
            </a:solidFill>
            <a:prstDash val="solid"/>
          </a:ln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8" name="Shape 6"/>
          <p:cNvSpPr/>
          <p:nvPr/>
        </p:nvSpPr>
        <p:spPr>
          <a:xfrm>
            <a:off x="228600" y="804672"/>
            <a:ext cx="73152" cy="9144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237744" y="804672"/>
            <a:ext cx="548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868680" y="877824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3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Modelling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68680" y="1225296"/>
            <a:ext cx="7955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Binding ML to forecast agricultural GHG emissions for distinct global regions using historical time-series data.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28600" y="1810512"/>
            <a:ext cx="86868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EE"/>
            </a:solidFill>
            <a:prstDash val="solid"/>
          </a:ln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3" name="Shape 11"/>
          <p:cNvSpPr/>
          <p:nvPr/>
        </p:nvSpPr>
        <p:spPr>
          <a:xfrm>
            <a:off x="228600" y="1810512"/>
            <a:ext cx="73152" cy="9144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Text 12"/>
          <p:cNvSpPr/>
          <p:nvPr/>
        </p:nvSpPr>
        <p:spPr>
          <a:xfrm>
            <a:off x="237744" y="1810512"/>
            <a:ext cx="548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868680" y="1883664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3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Benchmarking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68680" y="2231136"/>
            <a:ext cx="7955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Deeply compare 11 model classes (ARIMA, Prophet, VAR, LSTM, etc.) to identify the most accurate methodologies.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28600" y="2816352"/>
            <a:ext cx="86868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EE"/>
            </a:solidFill>
            <a:prstDash val="solid"/>
          </a:ln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8" name="Shape 16"/>
          <p:cNvSpPr/>
          <p:nvPr/>
        </p:nvSpPr>
        <p:spPr>
          <a:xfrm>
            <a:off x="228600" y="2816352"/>
            <a:ext cx="73152" cy="9144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" name="Text 17"/>
          <p:cNvSpPr/>
          <p:nvPr/>
        </p:nvSpPr>
        <p:spPr>
          <a:xfrm>
            <a:off x="237744" y="2816352"/>
            <a:ext cx="548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868680" y="2889504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3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Exogenous Drivers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68680" y="3236976"/>
            <a:ext cx="7955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 that incorporating GDP &amp; Population as regressors delivers 7.8× lower RMSE vs. best univariate baseline.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28600" y="3822192"/>
            <a:ext cx="86868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EE"/>
            </a:solidFill>
            <a:prstDash val="solid"/>
          </a:ln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3" name="Shape 21"/>
          <p:cNvSpPr/>
          <p:nvPr/>
        </p:nvSpPr>
        <p:spPr>
          <a:xfrm>
            <a:off x="228600" y="3822192"/>
            <a:ext cx="73152" cy="9144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4" name="Text 22"/>
          <p:cNvSpPr/>
          <p:nvPr/>
        </p:nvSpPr>
        <p:spPr>
          <a:xfrm>
            <a:off x="237744" y="3822192"/>
            <a:ext cx="548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868680" y="3895344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3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Dashboards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868680" y="4242816"/>
            <a:ext cx="7955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3 web-based dashboards translating complex model outputs into actionable policy insights for stakeholders.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61D8CC6-6EF1-238F-D489-A1473D43D4D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5364" y="865414"/>
            <a:ext cx="8115300" cy="4102826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255595CD-4B45-A59B-CBCD-B5D0414F3BB6}"/>
              </a:ext>
            </a:extLst>
          </p:cNvPr>
          <p:cNvSpPr/>
          <p:nvPr/>
        </p:nvSpPr>
        <p:spPr>
          <a:xfrm>
            <a:off x="853440" y="175260"/>
            <a:ext cx="7062893" cy="400473"/>
          </a:xfrm>
          <a:prstGeom prst="rect">
            <a:avLst/>
          </a:prstGeom>
          <a:solidFill>
            <a:srgbClr val="0D3B4F"/>
          </a:solidFill>
          <a:ln w="12700">
            <a:solidFill>
              <a:srgbClr val="0D3B4F"/>
            </a:solidFill>
            <a:prstDash val="solid"/>
          </a:ln>
        </p:spPr>
        <p:txBody>
          <a:bodyPr/>
          <a:lstStyle/>
          <a:p>
            <a:r>
              <a:rPr lang="en-US" b="1" dirty="0">
                <a:solidFill>
                  <a:schemeClr val="bg1"/>
                </a:solidFill>
              </a:rPr>
              <a:t>System Architecture: Medallion Lakehouse</a:t>
            </a:r>
          </a:p>
          <a:p>
            <a:endParaRPr lang="en-GB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474231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E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D3B4F"/>
          </a:solidFill>
          <a:ln w="12700">
            <a:solidFill>
              <a:srgbClr val="0D3B4F"/>
            </a:solidFill>
            <a:prstDash val="solid"/>
          </a:ln>
        </p:spPr>
        <p:txBody>
          <a:bodyPr/>
          <a:lstStyle/>
          <a:p>
            <a:endParaRPr lang="en-GB" dirty="0"/>
          </a:p>
        </p:txBody>
      </p:sp>
      <p:sp>
        <p:nvSpPr>
          <p:cNvPr id="3" name="Shape 1"/>
          <p:cNvSpPr/>
          <p:nvPr/>
        </p:nvSpPr>
        <p:spPr>
          <a:xfrm>
            <a:off x="0" y="621792"/>
            <a:ext cx="9144000" cy="54864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274320" y="0"/>
            <a:ext cx="7772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Architecture: Medallion Lakehouse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0D3B4F"/>
          </a:solidFill>
          <a:ln w="12700">
            <a:solidFill>
              <a:srgbClr val="0D3B4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182880" y="4983480"/>
            <a:ext cx="8778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AA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FICTA-2026 | Paper ID: 226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228600" y="804672"/>
            <a:ext cx="2743200" cy="4041648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EE"/>
            </a:solidFill>
            <a:prstDash val="solid"/>
          </a:ln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8" name="Shape 6"/>
          <p:cNvSpPr/>
          <p:nvPr/>
        </p:nvSpPr>
        <p:spPr>
          <a:xfrm>
            <a:off x="228600" y="804672"/>
            <a:ext cx="2743200" cy="502920"/>
          </a:xfrm>
          <a:prstGeom prst="rect">
            <a:avLst/>
          </a:prstGeom>
          <a:solidFill>
            <a:srgbClr val="B87333"/>
          </a:solidFill>
          <a:ln w="12700">
            <a:solidFill>
              <a:srgbClr val="B8733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228600" y="80467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BRONZE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20040" y="1078992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Data Ingestion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971800" y="1828800"/>
            <a:ext cx="164592" cy="54864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Text 10"/>
          <p:cNvSpPr/>
          <p:nvPr/>
        </p:nvSpPr>
        <p:spPr>
          <a:xfrm>
            <a:off x="3081528" y="173736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38328" y="1417320"/>
            <a:ext cx="25237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B87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100" dirty="0">
                <a:solidFill>
                  <a:srgbClr val="1E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OWID CO₂, FAOSTAT &amp; World Bank CSVs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38328" y="2039112"/>
            <a:ext cx="25237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B87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100" dirty="0">
                <a:solidFill>
                  <a:srgbClr val="1E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Loaded via PySpark, stored as Parquet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38328" y="2660904"/>
            <a:ext cx="25237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B87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100" dirty="0">
                <a:solidFill>
                  <a:srgbClr val="1E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Immutable historical archive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38328" y="3282696"/>
            <a:ext cx="25237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B87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100" dirty="0">
                <a:solidFill>
                  <a:srgbClr val="1E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4–8× compression vs CSV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200400" y="804672"/>
            <a:ext cx="2743200" cy="4041648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EE"/>
            </a:solidFill>
            <a:prstDash val="solid"/>
          </a:ln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8" name="Shape 16"/>
          <p:cNvSpPr/>
          <p:nvPr/>
        </p:nvSpPr>
        <p:spPr>
          <a:xfrm>
            <a:off x="3200400" y="804672"/>
            <a:ext cx="2743200" cy="502920"/>
          </a:xfrm>
          <a:prstGeom prst="rect">
            <a:avLst/>
          </a:prstGeom>
          <a:solidFill>
            <a:srgbClr val="8A8A8A"/>
          </a:solidFill>
          <a:ln w="12700">
            <a:solidFill>
              <a:srgbClr val="8A8A8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" name="Text 17"/>
          <p:cNvSpPr/>
          <p:nvPr/>
        </p:nvSpPr>
        <p:spPr>
          <a:xfrm>
            <a:off x="3200400" y="80467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SILVER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3291840" y="1078992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Cleanse &amp; Transform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943600" y="1828800"/>
            <a:ext cx="164592" cy="54864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" name="Text 20"/>
          <p:cNvSpPr/>
          <p:nvPr/>
        </p:nvSpPr>
        <p:spPr>
          <a:xfrm>
            <a:off x="6053328" y="173736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310128" y="1417320"/>
            <a:ext cx="25237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100" dirty="0">
                <a:solidFill>
                  <a:srgbClr val="1E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 projection &amp; name standardisation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310128" y="2039112"/>
            <a:ext cx="25237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100" dirty="0">
                <a:solidFill>
                  <a:srgbClr val="1E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integration (country + year keys)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310128" y="2660904"/>
            <a:ext cx="25237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100" dirty="0">
                <a:solidFill>
                  <a:srgbClr val="1E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conversion → tCO₂eq (IPCC AR6)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310128" y="3282696"/>
            <a:ext cx="25237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100" dirty="0">
                <a:solidFill>
                  <a:srgbClr val="1E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Forward-fill imputation &amp; IQR outliers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172200" y="804672"/>
            <a:ext cx="2743200" cy="4041648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EE"/>
            </a:solidFill>
            <a:prstDash val="solid"/>
          </a:ln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8" name="Shape 26"/>
          <p:cNvSpPr/>
          <p:nvPr/>
        </p:nvSpPr>
        <p:spPr>
          <a:xfrm>
            <a:off x="6172200" y="804672"/>
            <a:ext cx="2743200" cy="502920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9" name="Text 27"/>
          <p:cNvSpPr/>
          <p:nvPr/>
        </p:nvSpPr>
        <p:spPr>
          <a:xfrm>
            <a:off x="6172200" y="80467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6263640" y="1078992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Business-Ready Star Schema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281928" y="1417320"/>
            <a:ext cx="25237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100" dirty="0">
                <a:solidFill>
                  <a:srgbClr val="1E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 schema: Fact_Emissions + 5 Dims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281928" y="2039112"/>
            <a:ext cx="25237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100" dirty="0">
                <a:solidFill>
                  <a:srgbClr val="1E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Dim: Area, Item, Element, Year, Flag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281928" y="2660904"/>
            <a:ext cx="25237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100" dirty="0">
                <a:solidFill>
                  <a:srgbClr val="1E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Optimised for high-speed ML queries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281928" y="3282696"/>
            <a:ext cx="25237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100" dirty="0">
                <a:solidFill>
                  <a:srgbClr val="1E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feed to modelling pipeline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228600" y="4846320"/>
            <a:ext cx="8686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QUALITY ─────────────────────────────────────────────────────────►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EFD3761-F305-3EA5-26F9-41A65FF6EE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0333" y="728134"/>
            <a:ext cx="8144934" cy="3505200"/>
          </a:xfrm>
          <a:prstGeom prst="rect">
            <a:avLst/>
          </a:prstGeom>
        </p:spPr>
      </p:pic>
      <p:sp>
        <p:nvSpPr>
          <p:cNvPr id="6" name="Shape 0">
            <a:extLst>
              <a:ext uri="{FF2B5EF4-FFF2-40B4-BE49-F238E27FC236}">
                <a16:creationId xmlns:a16="http://schemas.microsoft.com/office/drawing/2014/main" id="{CF19AF9E-7D8A-91F7-5400-A484C8510BA1}"/>
              </a:ext>
            </a:extLst>
          </p:cNvPr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D3B4F"/>
          </a:solidFill>
          <a:ln w="12700">
            <a:solidFill>
              <a:srgbClr val="0D3B4F"/>
            </a:solidFill>
            <a:prstDash val="solid"/>
          </a:ln>
        </p:spPr>
        <p:txBody>
          <a:bodyPr/>
          <a:lstStyle/>
          <a:p>
            <a:r>
              <a:rPr lang="en-GB" sz="2400" b="1" i="1" dirty="0">
                <a:solidFill>
                  <a:schemeClr val="bg1"/>
                </a:solidFill>
              </a:rPr>
              <a:t>       A Star Schema Design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1C661BC-49B3-41D5-623B-6450F364763B}"/>
              </a:ext>
            </a:extLst>
          </p:cNvPr>
          <p:cNvSpPr/>
          <p:nvPr/>
        </p:nvSpPr>
        <p:spPr>
          <a:xfrm>
            <a:off x="550333" y="4233333"/>
            <a:ext cx="8144934" cy="72813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dirty="0"/>
              <a:t>Gold layer is structured as a star schema, which clearly defines relationships and</a:t>
            </a:r>
          </a:p>
          <a:p>
            <a:r>
              <a:rPr lang="en-GB" dirty="0"/>
              <a:t>improves query performance.</a:t>
            </a:r>
          </a:p>
        </p:txBody>
      </p:sp>
    </p:spTree>
    <p:extLst>
      <p:ext uri="{BB962C8B-B14F-4D97-AF65-F5344CB8AC3E}">
        <p14:creationId xmlns:p14="http://schemas.microsoft.com/office/powerpoint/2010/main" val="3598546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E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D3B4F"/>
          </a:solidFill>
          <a:ln w="12700">
            <a:solidFill>
              <a:srgbClr val="0D3B4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621792"/>
            <a:ext cx="9144000" cy="54864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274320" y="0"/>
            <a:ext cx="7772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 (EDA)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0D3B4F"/>
          </a:solidFill>
          <a:ln w="12700">
            <a:solidFill>
              <a:srgbClr val="0D3B4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182880" y="4983480"/>
            <a:ext cx="8778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AA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FICTA-2026 | Paper ID: 226</a:t>
            </a:r>
            <a:endParaRPr lang="en-US" sz="800" dirty="0"/>
          </a:p>
        </p:txBody>
      </p:sp>
      <p:graphicFrame>
        <p:nvGraphicFramePr>
          <p:cNvPr id="7" name="Chart 0"/>
          <p:cNvGraphicFramePr/>
          <p:nvPr/>
        </p:nvGraphicFramePr>
        <p:xfrm>
          <a:off x="228600" y="804672"/>
          <a:ext cx="420624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Shape 5"/>
          <p:cNvSpPr/>
          <p:nvPr/>
        </p:nvSpPr>
        <p:spPr>
          <a:xfrm>
            <a:off x="4663440" y="804672"/>
            <a:ext cx="420624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EE"/>
            </a:solidFill>
            <a:prstDash val="solid"/>
          </a:ln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9" name="Shape 6"/>
          <p:cNvSpPr/>
          <p:nvPr/>
        </p:nvSpPr>
        <p:spPr>
          <a:xfrm>
            <a:off x="4663440" y="804672"/>
            <a:ext cx="73152" cy="100584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Text 7"/>
          <p:cNvSpPr/>
          <p:nvPr/>
        </p:nvSpPr>
        <p:spPr>
          <a:xfrm>
            <a:off x="4754880" y="850392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= 0.97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4754880" y="1216152"/>
            <a:ext cx="3977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GDP &amp; CO₂ are almost perfectly correlated — economic activity drives emissions.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4663440" y="1901952"/>
            <a:ext cx="420624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EE"/>
            </a:solidFill>
            <a:prstDash val="solid"/>
          </a:ln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3" name="Shape 10"/>
          <p:cNvSpPr/>
          <p:nvPr/>
        </p:nvSpPr>
        <p:spPr>
          <a:xfrm>
            <a:off x="4663440" y="1901952"/>
            <a:ext cx="73152" cy="100584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Text 11"/>
          <p:cNvSpPr/>
          <p:nvPr/>
        </p:nvSpPr>
        <p:spPr>
          <a:xfrm>
            <a:off x="4754880" y="1947672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= 0.91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4754880" y="2313432"/>
            <a:ext cx="3977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Population &amp; CO₂ show very strong correlation — demographic growth is a key driver.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4663440" y="2999232"/>
            <a:ext cx="420624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EE"/>
            </a:solidFill>
            <a:prstDash val="solid"/>
          </a:ln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7" name="Shape 14"/>
          <p:cNvSpPr/>
          <p:nvPr/>
        </p:nvSpPr>
        <p:spPr>
          <a:xfrm>
            <a:off x="4663440" y="2999232"/>
            <a:ext cx="73152" cy="1005840"/>
          </a:xfrm>
          <a:prstGeom prst="rect">
            <a:avLst/>
          </a:prstGeom>
          <a:solidFill>
            <a:srgbClr val="5A7A8A"/>
          </a:solidFill>
          <a:ln w="12700">
            <a:solidFill>
              <a:srgbClr val="5A7A8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Text 15"/>
          <p:cNvSpPr/>
          <p:nvPr/>
        </p:nvSpPr>
        <p:spPr>
          <a:xfrm>
            <a:off x="4754880" y="3044952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&lt; 0.1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4754880" y="3410712"/>
            <a:ext cx="3977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alone barely correlates — time alone predicts nothing without context.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228600" y="4114800"/>
            <a:ext cx="8686800" cy="713232"/>
          </a:xfrm>
          <a:prstGeom prst="rect">
            <a:avLst/>
          </a:prstGeom>
          <a:solidFill>
            <a:srgbClr val="0D3B4F"/>
          </a:solidFill>
          <a:ln w="12700">
            <a:solidFill>
              <a:srgbClr val="0D3B4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Text 18"/>
          <p:cNvSpPr/>
          <p:nvPr/>
        </p:nvSpPr>
        <p:spPr>
          <a:xfrm>
            <a:off x="365760" y="4133088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Stationarity: </a:t>
            </a:r>
            <a:r>
              <a:rPr lang="en-US" sz="1100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series → non-stationary (ADF p&gt;0.05). After 1st-order differencing → stationary (ADF p&lt;0.01). </a:t>
            </a: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ACF/PACF of differenced series ≈ white noise </a:t>
            </a:r>
            <a:r>
              <a:rPr lang="en-US" sz="1100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simple ARIMA models will produce flat forecasts.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E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D3B4F"/>
          </a:solidFill>
          <a:ln w="12700">
            <a:solidFill>
              <a:srgbClr val="0D3B4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621792"/>
            <a:ext cx="9144000" cy="54864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274320" y="0"/>
            <a:ext cx="7772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Modeling Approaches: 4-Strategy Framework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0D3B4F"/>
          </a:solidFill>
          <a:ln w="12700">
            <a:solidFill>
              <a:srgbClr val="0D3B4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182880" y="4983480"/>
            <a:ext cx="8778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AA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FICTA-2026 | Paper ID: 226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228600" y="804672"/>
            <a:ext cx="420624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EE"/>
            </a:solidFill>
            <a:prstDash val="solid"/>
          </a:ln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8" name="Shape 6"/>
          <p:cNvSpPr/>
          <p:nvPr/>
        </p:nvSpPr>
        <p:spPr>
          <a:xfrm>
            <a:off x="228600" y="804672"/>
            <a:ext cx="4206240" cy="384048"/>
          </a:xfrm>
          <a:prstGeom prst="rect">
            <a:avLst/>
          </a:prstGeom>
          <a:solidFill>
            <a:srgbClr val="5A7A8A"/>
          </a:solidFill>
          <a:ln w="12700">
            <a:solidFill>
              <a:srgbClr val="5A7A8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320040" y="804672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 1: General ML Regressors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20040" y="1225296"/>
            <a:ext cx="4023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series → supervised regression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Lag features: lag1, lag2, lag3 + Rolling_Mean_3Y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Models: Linear Regression, Random Forest, GBT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Best: Random Forest (R²=0.040)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690872" y="804672"/>
            <a:ext cx="420624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EE"/>
            </a:solidFill>
            <a:prstDash val="solid"/>
          </a:ln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2" name="Shape 10"/>
          <p:cNvSpPr/>
          <p:nvPr/>
        </p:nvSpPr>
        <p:spPr>
          <a:xfrm>
            <a:off x="4690872" y="804672"/>
            <a:ext cx="4206240" cy="384048"/>
          </a:xfrm>
          <a:prstGeom prst="rect">
            <a:avLst/>
          </a:prstGeom>
          <a:solidFill>
            <a:srgbClr val="7B68EE"/>
          </a:solidFill>
          <a:ln w="12700">
            <a:solidFill>
              <a:srgbClr val="7B68E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/>
          <p:nvPr/>
        </p:nvSpPr>
        <p:spPr>
          <a:xfrm>
            <a:off x="4782312" y="804672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 2: Univariate Time Series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782312" y="1225296"/>
            <a:ext cx="4023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AR(1), MA(1), ARMA(7,7), ARIMA(1,1,1)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Train: 1990–2017 | Test: 2018–2025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produce near-flat forecasts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ARIMA RMSE best: ~530 (still poor)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228600" y="2852928"/>
            <a:ext cx="420624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EE"/>
            </a:solidFill>
            <a:prstDash val="solid"/>
          </a:ln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6" name="Shape 14"/>
          <p:cNvSpPr/>
          <p:nvPr/>
        </p:nvSpPr>
        <p:spPr>
          <a:xfrm>
            <a:off x="228600" y="2852928"/>
            <a:ext cx="4206240" cy="384048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Text 15"/>
          <p:cNvSpPr/>
          <p:nvPr/>
        </p:nvSpPr>
        <p:spPr>
          <a:xfrm>
            <a:off x="320040" y="2852928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 3: Prophet Framework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20040" y="3273552"/>
            <a:ext cx="4023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Y(t)=g(t)+s(t)+h(t)+ε(t)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regressors: RMSE=362.23 (plateau)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GDP &amp; Population via add_regressor()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regressors: RMSE=46.72 ✓ 7.8× better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690872" y="2852928"/>
            <a:ext cx="420624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EE"/>
            </a:solidFill>
            <a:prstDash val="solid"/>
          </a:ln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0" name="Shape 18"/>
          <p:cNvSpPr/>
          <p:nvPr/>
        </p:nvSpPr>
        <p:spPr>
          <a:xfrm>
            <a:off x="4690872" y="2852928"/>
            <a:ext cx="4206240" cy="384048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Text 19"/>
          <p:cNvSpPr/>
          <p:nvPr/>
        </p:nvSpPr>
        <p:spPr>
          <a:xfrm>
            <a:off x="4782312" y="2852928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 4: Multivariate: VAR &amp; LSTM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782312" y="3273552"/>
            <a:ext cx="4023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VAR: bidirectional Granger causality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LSTM: 2-layer (64+32 units), 10yr windows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model Population + GDP + GHG together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LSTM: best for non-linear trend capture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E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D3B4F"/>
          </a:solidFill>
          <a:ln w="12700">
            <a:solidFill>
              <a:srgbClr val="0D3B4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621792"/>
            <a:ext cx="9144000" cy="54864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274320" y="0"/>
            <a:ext cx="7772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Performance Comparison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0D3B4F"/>
          </a:solidFill>
          <a:ln w="12700">
            <a:solidFill>
              <a:srgbClr val="0D3B4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182880" y="4983480"/>
            <a:ext cx="8778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AA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FICTA-2026 | Paper ID: 226</a:t>
            </a:r>
            <a:endParaRPr lang="en-US" sz="8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45845268"/>
              </p:ext>
            </p:extLst>
          </p:nvPr>
        </p:nvGraphicFramePr>
        <p:xfrm>
          <a:off x="228600" y="676655"/>
          <a:ext cx="8625840" cy="4092360"/>
        </p:xfrm>
        <a:graphic>
          <a:graphicData uri="http://schemas.openxmlformats.org/drawingml/2006/table">
            <a:tbl>
              <a:tblPr/>
              <a:tblGrid>
                <a:gridCol w="1965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07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115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9489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4103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Model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B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Category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B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RMSE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B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R²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B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Forecast Behaviour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B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103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Linear Regression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General ML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0.086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-1.245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Unrealistic values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103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9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General ML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9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0.056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9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0.040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9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Realistic, non-negative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103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AR(1)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Univariate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689.15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N/A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Flat mean-revert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1030"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lnSpc>
                          <a:spcPts val="1200"/>
                        </a:lnSpc>
                        <a:buNone/>
                      </a:pPr>
                      <a:r>
                        <a:rPr lang="en-GB" sz="1000" kern="1200" dirty="0">
                          <a:solidFill>
                            <a:srgbClr val="1E2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GBT Regressor</a:t>
                      </a:r>
                    </a:p>
                  </a:txBody>
                  <a:tcPr marL="63500" marR="63500" marT="44450" marB="44450">
                    <a:lnL w="6350" cap="flat" cmpd="sng" algn="ctr">
                      <a:solidFill>
                        <a:srgbClr val="D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buNone/>
                      </a:pPr>
                      <a:r>
                        <a:rPr lang="en-GB" sz="1000" kern="1200" dirty="0">
                          <a:solidFill>
                            <a:srgbClr val="1E2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General ML</a:t>
                      </a:r>
                      <a:endParaRPr lang="en-US" sz="1000" kern="1200" dirty="0">
                        <a:solidFill>
                          <a:srgbClr val="1E2D3A"/>
                        </a:solidFill>
                        <a:latin typeface="Calibri" pitchFamily="34" charset="0"/>
                        <a:ea typeface="Calibri" pitchFamily="34" charset="-122"/>
                        <a:cs typeface="Calibri" pitchFamily="34" charset="-120"/>
                      </a:endParaRPr>
                    </a:p>
                  </a:txBody>
                  <a:tcPr>
                    <a:lnL w="6350" cap="flat" cmpd="sng" algn="ctr">
                      <a:solidFill>
                        <a:srgbClr val="D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buNone/>
                      </a:pPr>
                      <a:r>
                        <a:rPr lang="en-GB" sz="1000" kern="1200" dirty="0">
                          <a:solidFill>
                            <a:srgbClr val="1E2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000" kern="1200" dirty="0">
                        <a:solidFill>
                          <a:srgbClr val="1E2D3A"/>
                        </a:solidFill>
                        <a:latin typeface="Calibri" pitchFamily="34" charset="0"/>
                        <a:ea typeface="Calibri" pitchFamily="34" charset="-122"/>
                        <a:cs typeface="Calibri" pitchFamily="34" charset="-120"/>
                      </a:endParaRPr>
                    </a:p>
                  </a:txBody>
                  <a:tcPr>
                    <a:lnL w="6350" cap="flat" cmpd="sng" algn="ctr">
                      <a:solidFill>
                        <a:srgbClr val="D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457200" lvl="1" indent="0" algn="l" defTabSz="914400" rtl="0" eaLnBrk="1" latinLnBrk="0" hangingPunct="1">
                        <a:buNone/>
                      </a:pPr>
                      <a:r>
                        <a:rPr lang="en-GB" sz="1000" kern="1200" dirty="0">
                          <a:solidFill>
                            <a:srgbClr val="1E2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-1.792</a:t>
                      </a:r>
                      <a:endParaRPr lang="en-US" sz="1000" kern="1200" dirty="0">
                        <a:solidFill>
                          <a:srgbClr val="1E2D3A"/>
                        </a:solidFill>
                        <a:latin typeface="Calibri" pitchFamily="34" charset="0"/>
                        <a:ea typeface="Calibri" pitchFamily="34" charset="-122"/>
                        <a:cs typeface="Calibri" pitchFamily="34" charset="-120"/>
                      </a:endParaRPr>
                    </a:p>
                  </a:txBody>
                  <a:tcPr>
                    <a:lnL w="6350" cap="flat" cmpd="sng" algn="ctr">
                      <a:solidFill>
                        <a:srgbClr val="D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buNone/>
                      </a:pPr>
                      <a:r>
                        <a:rPr lang="en-GB" sz="1000" kern="1200" dirty="0">
                          <a:solidFill>
                            <a:srgbClr val="1E2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 Poor fit</a:t>
                      </a:r>
                      <a:endParaRPr lang="en-US" sz="1000" kern="1200" dirty="0">
                        <a:solidFill>
                          <a:srgbClr val="1E2D3A"/>
                        </a:solidFill>
                        <a:latin typeface="Calibri" pitchFamily="34" charset="0"/>
                        <a:ea typeface="Calibri" pitchFamily="34" charset="-122"/>
                        <a:cs typeface="Calibri" pitchFamily="34" charset="-120"/>
                      </a:endParaRPr>
                    </a:p>
                  </a:txBody>
                  <a:tcPr>
                    <a:lnL w="6350" cap="flat" cmpd="sng" algn="ctr">
                      <a:solidFill>
                        <a:srgbClr val="D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328230"/>
                  </a:ext>
                </a:extLst>
              </a:tr>
              <a:tr h="34103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MA(1)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Univariate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637.69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N/A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Slightly better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103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ARMA(7,7)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Univariate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533.11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N/A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Volatile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103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ARIMA(1,1,1)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Univariate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~530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N/A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Flat (white noise)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103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Prophet (no regressors)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Univariate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362.23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N/A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Plateau forecast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4103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1A527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Prophet + GDP + Pop ★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FD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A527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Multivariate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FD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A527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46.72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FD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A527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N/A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FD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A527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Trend-following 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F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4103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Multivariate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N/A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N/A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Dynamic system 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4103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LSTM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Multivariate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N/A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N/A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Non-linear trend 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243840" y="4670298"/>
            <a:ext cx="8625840" cy="297180"/>
          </a:xfrm>
          <a:prstGeom prst="rect">
            <a:avLst/>
          </a:prstGeom>
          <a:solidFill>
            <a:srgbClr val="0D3B4F"/>
          </a:solidFill>
          <a:ln w="12700">
            <a:solidFill>
              <a:srgbClr val="0D3B4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Text 6"/>
          <p:cNvSpPr/>
          <p:nvPr/>
        </p:nvSpPr>
        <p:spPr>
          <a:xfrm>
            <a:off x="365760" y="4670298"/>
            <a:ext cx="841248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Key Finding: </a:t>
            </a:r>
            <a:r>
              <a:rPr lang="en-US" sz="1150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Prophet + GDP + Population delivers RMSE = 46.72 — </a:t>
            </a: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7.8× lower than best univariate baseline (362.23)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E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D3B4F"/>
          </a:solidFill>
          <a:ln w="12700">
            <a:solidFill>
              <a:srgbClr val="0D3B4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621792"/>
            <a:ext cx="9144000" cy="54864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274320" y="0"/>
            <a:ext cx="7772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 &amp; Insights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0D3B4F"/>
          </a:solidFill>
          <a:ln w="12700">
            <a:solidFill>
              <a:srgbClr val="0D3B4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182880" y="4983480"/>
            <a:ext cx="8778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AA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FICTA-2026 | Paper ID: 226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228600" y="804672"/>
            <a:ext cx="420624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EE"/>
            </a:solidFill>
            <a:prstDash val="solid"/>
          </a:ln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8" name="Shape 6"/>
          <p:cNvSpPr/>
          <p:nvPr/>
        </p:nvSpPr>
        <p:spPr>
          <a:xfrm>
            <a:off x="228600" y="804672"/>
            <a:ext cx="73152" cy="187452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Shape 7"/>
          <p:cNvSpPr/>
          <p:nvPr/>
        </p:nvSpPr>
        <p:spPr>
          <a:xfrm>
            <a:off x="365760" y="914400"/>
            <a:ext cx="384048" cy="384048"/>
          </a:xfrm>
          <a:prstGeom prst="ellipse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/>
          <p:nvPr/>
        </p:nvSpPr>
        <p:spPr>
          <a:xfrm>
            <a:off x="365760" y="9144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22960" y="896112"/>
            <a:ext cx="3520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3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Univariate Models Are Insufficient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11480" y="1353312"/>
            <a:ext cx="393192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ARIMA and Prophet (without regressors) all fail to track future emission trajectories. Year-on-year changes behave as near-white-noise after differencing — no meaningful autocorrelation to exploit.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690872" y="804672"/>
            <a:ext cx="420624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EE"/>
            </a:solidFill>
            <a:prstDash val="solid"/>
          </a:ln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4" name="Shape 12"/>
          <p:cNvSpPr/>
          <p:nvPr/>
        </p:nvSpPr>
        <p:spPr>
          <a:xfrm>
            <a:off x="4690872" y="804672"/>
            <a:ext cx="73152" cy="187452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Shape 13"/>
          <p:cNvSpPr/>
          <p:nvPr/>
        </p:nvSpPr>
        <p:spPr>
          <a:xfrm>
            <a:off x="4828032" y="914400"/>
            <a:ext cx="384048" cy="384048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Text 14"/>
          <p:cNvSpPr/>
          <p:nvPr/>
        </p:nvSpPr>
        <p:spPr>
          <a:xfrm>
            <a:off x="4828032" y="9144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285232" y="896112"/>
            <a:ext cx="3520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3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Exogenous Regressors Deliver 7.8× Improvement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873752" y="1353312"/>
            <a:ext cx="393192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GDP–CO₂ link (r=0.97) is the critical signal. Emissions don't follow past emissions — they follow economic activity. Models ignoring GDP/Population will get the future wrong.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228600" y="2816352"/>
            <a:ext cx="420624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EE"/>
            </a:solidFill>
            <a:prstDash val="solid"/>
          </a:ln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0" name="Shape 18"/>
          <p:cNvSpPr/>
          <p:nvPr/>
        </p:nvSpPr>
        <p:spPr>
          <a:xfrm>
            <a:off x="228600" y="2816352"/>
            <a:ext cx="73152" cy="187452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Shape 19"/>
          <p:cNvSpPr/>
          <p:nvPr/>
        </p:nvSpPr>
        <p:spPr>
          <a:xfrm>
            <a:off x="365760" y="2926080"/>
            <a:ext cx="384048" cy="384048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" name="Text 20"/>
          <p:cNvSpPr/>
          <p:nvPr/>
        </p:nvSpPr>
        <p:spPr>
          <a:xfrm>
            <a:off x="365760" y="2926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↕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822960" y="2907792"/>
            <a:ext cx="3520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3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 vs VAR Trade-Off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11480" y="3364992"/>
            <a:ext cx="393192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 offers interpretable Granger causality coefficients — best for policy work. LSTM handles non-linear saturation effects. Use LSTM for data-rich economies; VAR for thinner records.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690872" y="2816352"/>
            <a:ext cx="420624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EE"/>
            </a:solidFill>
            <a:prstDash val="solid"/>
          </a:ln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6" name="Shape 24"/>
          <p:cNvSpPr/>
          <p:nvPr/>
        </p:nvSpPr>
        <p:spPr>
          <a:xfrm>
            <a:off x="4690872" y="2816352"/>
            <a:ext cx="73152" cy="1874520"/>
          </a:xfrm>
          <a:prstGeom prst="rect">
            <a:avLst/>
          </a:prstGeom>
          <a:solidFill>
            <a:srgbClr val="7B68EE"/>
          </a:solidFill>
          <a:ln w="12700">
            <a:solidFill>
              <a:srgbClr val="7B68E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7" name="Shape 25"/>
          <p:cNvSpPr/>
          <p:nvPr/>
        </p:nvSpPr>
        <p:spPr>
          <a:xfrm>
            <a:off x="4828032" y="2926080"/>
            <a:ext cx="384048" cy="384048"/>
          </a:xfrm>
          <a:prstGeom prst="ellipse">
            <a:avLst/>
          </a:prstGeom>
          <a:solidFill>
            <a:srgbClr val="7B68EE"/>
          </a:solidFill>
          <a:ln w="12700">
            <a:solidFill>
              <a:srgbClr val="7B68E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8" name="Text 26"/>
          <p:cNvSpPr/>
          <p:nvPr/>
        </p:nvSpPr>
        <p:spPr>
          <a:xfrm>
            <a:off x="4828032" y="2926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5285232" y="2907792"/>
            <a:ext cx="3520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3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as Best Regression Baseline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873752" y="3364992"/>
            <a:ext cx="393192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(R²=0.040) clearly outperforms OLS and GBT. Ensemble averaging reduces variance; non-parametric structure handles mild non-linearities in the lag-feature space.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E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D3B4F"/>
          </a:solidFill>
          <a:ln w="12700">
            <a:solidFill>
              <a:srgbClr val="0D3B4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621792"/>
            <a:ext cx="9144000" cy="54864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274320" y="0"/>
            <a:ext cx="7772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Dashboard System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0D3B4F"/>
          </a:solidFill>
          <a:ln w="12700">
            <a:solidFill>
              <a:srgbClr val="0D3B4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182880" y="4983480"/>
            <a:ext cx="8778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AA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FICTA-2026 | Paper ID: 226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228600" y="804672"/>
            <a:ext cx="2743200" cy="4041648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EE"/>
            </a:solidFill>
            <a:prstDash val="solid"/>
          </a:ln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8" name="Shape 6"/>
          <p:cNvSpPr/>
          <p:nvPr/>
        </p:nvSpPr>
        <p:spPr>
          <a:xfrm>
            <a:off x="228600" y="804672"/>
            <a:ext cx="2743200" cy="530352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228600" y="804672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1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28600" y="100584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Emissions Explorer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01752" y="1371600"/>
            <a:ext cx="2596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ghgemission.netlify.app/global_emission.html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20040" y="1645920"/>
            <a:ext cx="2560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050" dirty="0">
                <a:solidFill>
                  <a:srgbClr val="1E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world choropleth map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20040" y="2212848"/>
            <a:ext cx="2560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050" dirty="0">
                <a:solidFill>
                  <a:srgbClr val="1E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+ AI-powered country forecasts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20040" y="2779776"/>
            <a:ext cx="2560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050" dirty="0">
                <a:solidFill>
                  <a:srgbClr val="1E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Emission breakdowns: CO₂, CH₄, N₂O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20040" y="3346704"/>
            <a:ext cx="2560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050" dirty="0">
                <a:solidFill>
                  <a:srgbClr val="1E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any country &amp; metric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200400" y="804672"/>
            <a:ext cx="2743200" cy="4041648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EE"/>
            </a:solidFill>
            <a:prstDash val="solid"/>
          </a:ln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7" name="Shape 15"/>
          <p:cNvSpPr/>
          <p:nvPr/>
        </p:nvSpPr>
        <p:spPr>
          <a:xfrm>
            <a:off x="3200400" y="804672"/>
            <a:ext cx="2743200" cy="530352"/>
          </a:xfrm>
          <a:prstGeom prst="rect">
            <a:avLst/>
          </a:prstGeom>
          <a:solidFill>
            <a:srgbClr val="7B68EE"/>
          </a:solidFill>
          <a:ln w="12700">
            <a:solidFill>
              <a:srgbClr val="7B68E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Text 16"/>
          <p:cNvSpPr/>
          <p:nvPr/>
        </p:nvSpPr>
        <p:spPr>
          <a:xfrm>
            <a:off x="3200400" y="804672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2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200400" y="100584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Decoupling Index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273552" y="1371600"/>
            <a:ext cx="2596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ghgemission.netlify.app/decoupling_index.html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3291840" y="1645920"/>
            <a:ext cx="2560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B6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050" dirty="0">
                <a:solidFill>
                  <a:srgbClr val="1E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Ranks countries by economic decoupling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291840" y="2212848"/>
            <a:ext cx="2560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B6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050" dirty="0">
                <a:solidFill>
                  <a:srgbClr val="1E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= Avg GDP Growth% − Avg GHG Growth%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291840" y="2779776"/>
            <a:ext cx="2560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B6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050" dirty="0">
                <a:solidFill>
                  <a:srgbClr val="1E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positive score = successful decoupling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291840" y="3346704"/>
            <a:ext cx="2560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B6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050" dirty="0">
                <a:solidFill>
                  <a:srgbClr val="1E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Decade-selectable analysis window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172200" y="804672"/>
            <a:ext cx="2743200" cy="4041648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EE"/>
            </a:solidFill>
            <a:prstDash val="solid"/>
          </a:ln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6" name="Shape 24"/>
          <p:cNvSpPr/>
          <p:nvPr/>
        </p:nvSpPr>
        <p:spPr>
          <a:xfrm>
            <a:off x="6172200" y="804672"/>
            <a:ext cx="2743200" cy="530352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7" name="Text 25"/>
          <p:cNvSpPr/>
          <p:nvPr/>
        </p:nvSpPr>
        <p:spPr>
          <a:xfrm>
            <a:off x="6172200" y="804672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3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172200" y="100584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'What-If' Scenario Tool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245352" y="1371600"/>
            <a:ext cx="2596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ghgemission.netlify.app/what_if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6263640" y="1645920"/>
            <a:ext cx="2560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050" dirty="0">
                <a:solidFill>
                  <a:srgbClr val="1E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Slider-adjustable GDP &amp; population growth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263640" y="2212848"/>
            <a:ext cx="2560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050" dirty="0">
                <a:solidFill>
                  <a:srgbClr val="1E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Country-level LSTM scenario forecasting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263640" y="2779776"/>
            <a:ext cx="2560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050" dirty="0">
                <a:solidFill>
                  <a:srgbClr val="1E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vs What-If comparison view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263640" y="3346704"/>
            <a:ext cx="2560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050" dirty="0">
                <a:solidFill>
                  <a:srgbClr val="1E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Powered by trained multivariate LSTM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228600" y="4800600"/>
            <a:ext cx="8686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dashboards deployed on Netlify | Built with Plotly Dash (Python)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dash1" descr="dash1" title="dash1">
            <a:extLst>
              <a:ext uri="{FF2B5EF4-FFF2-40B4-BE49-F238E27FC236}">
                <a16:creationId xmlns:a16="http://schemas.microsoft.com/office/drawing/2014/main" id="{F283930C-75CD-0F57-EADD-21F4C124E05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18407" y="73479"/>
            <a:ext cx="8384722" cy="49393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912366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AB7582E-266A-B6FC-D034-CC6292CC74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51515"/>
            <a:ext cx="9144000" cy="44404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205124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9415B83-C5E0-1D44-5626-916F92C611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8825" y="0"/>
            <a:ext cx="7745318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607118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3B4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5074920"/>
            <a:ext cx="9144000" cy="73152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457200" y="13716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Impact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1828800" y="548640"/>
            <a:ext cx="5486400" cy="54864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Shape 4"/>
          <p:cNvSpPr/>
          <p:nvPr/>
        </p:nvSpPr>
        <p:spPr>
          <a:xfrm>
            <a:off x="365760" y="676656"/>
            <a:ext cx="8412480" cy="731520"/>
          </a:xfrm>
          <a:prstGeom prst="rect">
            <a:avLst/>
          </a:prstGeom>
          <a:solidFill>
            <a:srgbClr val="153045"/>
          </a:solidFill>
          <a:ln w="19050">
            <a:solidFill>
              <a:srgbClr val="E8A83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502920" y="694944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Finding: </a:t>
            </a:r>
            <a:r>
              <a:rPr lang="en-US" sz="1200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Multivariate models incorporating GDP and Population outperform all univariate baselines. Prophet + exogenous regressors achieves </a:t>
            </a: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 = 46.72 — a 7.8× improvement.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65760" y="1481328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Impact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65760" y="1764792"/>
            <a:ext cx="1965960" cy="1371600"/>
          </a:xfrm>
          <a:prstGeom prst="rect">
            <a:avLst/>
          </a:prstGeom>
          <a:solidFill>
            <a:srgbClr val="153045"/>
          </a:solidFill>
          <a:ln w="12700">
            <a:solidFill>
              <a:srgbClr val="2A5A7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/>
          <p:nvPr/>
        </p:nvSpPr>
        <p:spPr>
          <a:xfrm>
            <a:off x="365760" y="1801368"/>
            <a:ext cx="1965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Making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65760" y="2130552"/>
            <a:ext cx="1965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C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 effectiveness of climate policies and set reduction targets.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487168" y="1764792"/>
            <a:ext cx="1965960" cy="1371600"/>
          </a:xfrm>
          <a:prstGeom prst="rect">
            <a:avLst/>
          </a:prstGeom>
          <a:solidFill>
            <a:srgbClr val="153045"/>
          </a:solidFill>
          <a:ln w="12700">
            <a:solidFill>
              <a:srgbClr val="2A5A7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/>
          <p:nvPr/>
        </p:nvSpPr>
        <p:spPr>
          <a:xfrm>
            <a:off x="2487168" y="1801368"/>
            <a:ext cx="1965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Climate Science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487168" y="2130552"/>
            <a:ext cx="1965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C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&amp; refine models for predicting change scenarios.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608576" y="1764792"/>
            <a:ext cx="1965960" cy="1371600"/>
          </a:xfrm>
          <a:prstGeom prst="rect">
            <a:avLst/>
          </a:prstGeom>
          <a:solidFill>
            <a:srgbClr val="153045"/>
          </a:solidFill>
          <a:ln w="12700">
            <a:solidFill>
              <a:srgbClr val="2A5A7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Text 14"/>
          <p:cNvSpPr/>
          <p:nvPr/>
        </p:nvSpPr>
        <p:spPr>
          <a:xfrm>
            <a:off x="4608576" y="1801368"/>
            <a:ext cx="1965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Planning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608576" y="2130552"/>
            <a:ext cx="1965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C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 agriculture businesses anticipate regulations.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729984" y="1764792"/>
            <a:ext cx="1965960" cy="1371600"/>
          </a:xfrm>
          <a:prstGeom prst="rect">
            <a:avLst/>
          </a:prstGeom>
          <a:solidFill>
            <a:srgbClr val="153045"/>
          </a:solidFill>
          <a:ln w="12700">
            <a:solidFill>
              <a:srgbClr val="2A5A7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" name="Text 17"/>
          <p:cNvSpPr/>
          <p:nvPr/>
        </p:nvSpPr>
        <p:spPr>
          <a:xfrm>
            <a:off x="6729984" y="1801368"/>
            <a:ext cx="1965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Investment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729984" y="2130552"/>
            <a:ext cx="1965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C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 sustainable agriculture &amp; emission reduction projects.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65760" y="3246120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Directions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65760" y="3520440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100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real-time satellite imagery data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65760" y="3886200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100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Granular crop-type &amp; soil data inclusion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800600" y="3520440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100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interventions as model features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800600" y="3886200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100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non-linear model architectures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0" y="4480560"/>
            <a:ext cx="9144000" cy="566928"/>
          </a:xfrm>
          <a:prstGeom prst="rect">
            <a:avLst/>
          </a:prstGeom>
          <a:solidFill>
            <a:srgbClr val="0A2535"/>
          </a:solidFill>
          <a:ln w="12700">
            <a:solidFill>
              <a:srgbClr val="0A253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7" name="Text 25"/>
          <p:cNvSpPr/>
          <p:nvPr/>
        </p:nvSpPr>
        <p:spPr>
          <a:xfrm>
            <a:off x="365760" y="449884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 |  Questions Welcome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365760" y="4764024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Rajesh Kumar  Singh|  errajeshcs@gmail.com  |  FICTA-2026 Paper ID: 226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1239</TotalTime>
  <Words>1447</Words>
  <Application>Microsoft Office PowerPoint</Application>
  <PresentationFormat>On-screen Show (16:9)</PresentationFormat>
  <Paragraphs>259</Paragraphs>
  <Slides>16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Forecasting Agricultural GHG Emissions – FICTA 2026</dc:title>
  <dc:subject>PptxGenJS Presentation</dc:subject>
  <dc:creator>PptxGenJS</dc:creator>
  <cp:lastModifiedBy>Rajesh Kumar Singh</cp:lastModifiedBy>
  <cp:revision>14</cp:revision>
  <dcterms:created xsi:type="dcterms:W3CDTF">2026-06-06T23:43:12Z</dcterms:created>
  <dcterms:modified xsi:type="dcterms:W3CDTF">2026-06-08T13:08:01Z</dcterms:modified>
</cp:coreProperties>
</file>