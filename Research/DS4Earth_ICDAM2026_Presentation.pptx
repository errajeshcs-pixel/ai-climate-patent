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70" r:id="rId9"/>
    <p:sldId id="269" r:id="rId10"/>
    <p:sldId id="268" r:id="rId11"/>
    <p:sldId id="263" r:id="rId12"/>
    <p:sldId id="272" r:id="rId13"/>
    <p:sldId id="271" r:id="rId14"/>
    <p:sldId id="267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FC48A-40A8-4815-BA95-23178E6D2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C60B8-AC82-45A9-82DA-49E3C3D8F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9232-31CD-406D-82AE-EA68BC6064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2C502-FE3D-48CE-962A-D0C5905217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516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9563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F19C-4D3B-4283-B632-5CFB8FB9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1616-88CA-4437-B1B8-62F6DEE6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850B-84AC-47FE-8838-BED3182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AC6A-A91B-473B-A90E-04D6A6B29CE7}" type="datetime1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C73D-0A8A-4950-9FD7-487AC00E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18BE-0643-45DA-993E-5938F8F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83C3-5D56-47C4-BAAA-0AEE6B0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191E-F147-465C-B1BC-F3192025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4D21-8E56-4941-93C0-57B67E22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53B88-9E2F-4E0D-BEB5-9512ABE20021}" type="datetime1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476B-12F5-4CE0-8BED-CC7E02D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A1D1-2DC0-4EB9-B1C0-3D0A1726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3532-2579-487E-A806-FE059BC2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22E9-2061-45FA-973E-DC229F8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1C65-23E2-4167-B173-FA4734A1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D3E1-7812-4A9E-B864-B81937D742C8}" type="datetime1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CE50-78C6-4AF3-8C31-1792D83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728E-FD97-4282-985C-0A8FA93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648D-8839-402E-8EBE-66C6755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1E8-F7C7-4F72-83E8-E8E8F3A89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11418-08AA-441A-8A66-97EDBEE0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9B3-62E9-4A88-A05B-55A69EF5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24A2-7147-41C7-8F51-419AC86CB2DA}" type="datetime1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91A1-5E44-452F-A78A-FBA5E47F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FC47-031D-4E2A-B90F-BE2FE41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536-4AE1-4490-9878-471FF125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6612D-5A89-4E9A-90B8-BF7FFA8A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F513-E926-411D-8D2B-8831CD30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C415-A031-49A9-9DAD-F150409D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0D390-93EF-4E83-9F5B-91286149D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EC721-76DC-43AF-96DF-A0EE7072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227A-EA38-4682-809F-1AB178D82CAD}" type="datetime1">
              <a:rPr lang="en-IN" smtClean="0"/>
              <a:t>06-07-2026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4597-18DE-4775-8FB6-A97F0DA4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72141-DE0D-4AEB-B511-CB9B54FD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2DF-0ED8-4277-B395-2A4F842B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E3D8E-0ABE-4734-98F8-D36BD994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AF2A-080E-4A88-B0AF-245159A4CDC9}" type="datetime1">
              <a:rPr lang="en-IN" smtClean="0"/>
              <a:t>06-07-2026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561F1-B38C-461E-85F3-2481751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2915-E4FE-415C-9D69-B845A7D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6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2E84-AD5B-465F-98D4-488F871A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49F6-3336-4E62-A4DA-8CA689137BEC}" type="datetime1">
              <a:rPr lang="en-IN" smtClean="0"/>
              <a:t>06-07-2026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86A-862E-4B6A-B263-B01DE6A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33FC-1B71-4E52-BF49-4D36D092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CCDE-35D4-412E-AFAB-C219873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1492-B8B6-4708-A8C8-A138B063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00379-D005-4BAC-B925-C1320430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B0578-F2D9-4D73-83B2-F23670E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179E-15EB-4A92-9A06-B8176C6C8A64}" type="datetime1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F134B-4FB5-46E9-8513-DB4C9B2E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61B3-BD8A-43AB-BB10-5B53A90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223D-FF11-4AE7-973E-C9032752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DF81C-EE9D-4D7F-A967-06723144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43-9D88-4586-A760-098C1475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BD912-76F0-4805-9E0D-7C09F249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5B34-9F94-40EC-911F-D5B5FF23FB31}" type="datetime1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EFC-E6F0-4221-8F91-DEE7667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78C8-FCAB-43A2-9CE6-A2768B5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5A84-E335-48CC-A676-05D91F6A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F8BF-FFBC-41F7-B2B0-2CF3804EE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955D-CA90-44D7-BF8E-BC38A3F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2C73-B261-4FD4-BAD4-0AD039A7E604}" type="datetime1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CB078-D83E-4166-A02C-B6B163DA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FEF6-C837-419F-8835-DC22EF83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401E9-8805-42DB-AC72-2AE0FF03F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B009-1E61-4516-B850-2D2767C6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6585-E3B2-43BE-AAE1-443822B2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5B16-E566-4C1A-A21C-527B43D72336}" type="datetime1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36A-90BB-45C6-86EC-EF77DE5E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805-3800-4CB1-9ADA-9475445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3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EB43A-BD9E-4874-BFFB-60C4AC6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C3F-335A-4DB7-9751-C78105CE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C449-54C2-463E-BDDF-5F5299CB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2B17B-ED7F-41D4-8FD8-884B8E995DBB}" type="datetime1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7EE8-8318-4653-A49C-0E3AAA3C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A26E-3201-463F-ACF3-CBF98D3B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mailto:errajeshcs@gma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12" y="1391137"/>
            <a:ext cx="11842810" cy="525675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 dirty="0">
                <a:solidFill>
                  <a:srgbClr val="065A82"/>
                </a:solidFill>
                <a:latin typeface="Arial"/>
              </a:rPr>
              <a:t>7th International Conference on Data Analytics &amp; Management (ICDAM-2026)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300" b="0" i="0" dirty="0">
                <a:solidFill>
                  <a:srgbClr val="5A6B76"/>
                </a:solidFill>
                <a:latin typeface="Arial"/>
              </a:rPr>
              <a:t>12th to 14th June 2026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 dirty="0">
                <a:solidFill>
                  <a:srgbClr val="122B3A"/>
                </a:solidFill>
                <a:latin typeface="Arial"/>
              </a:rPr>
              <a:t>DS4Earth: An Integrated Data Science Approach to Climate Change Insights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 dirty="0">
                <a:solidFill>
                  <a:srgbClr val="1C7293"/>
                </a:solidFill>
                <a:latin typeface="Arial"/>
              </a:rPr>
              <a:t>Using Medallion Architecture, Star Schema Design and Multi-Model Machine Learning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400" b="1" i="0" dirty="0">
                <a:solidFill>
                  <a:srgbClr val="029A7C"/>
                </a:solidFill>
                <a:latin typeface="Arial"/>
              </a:rPr>
              <a:t>Paper ID: 1210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 dirty="0">
                <a:solidFill>
                  <a:srgbClr val="122B3A"/>
                </a:solidFill>
                <a:latin typeface="Arial"/>
              </a:rPr>
              <a:t>Rajesh Kumar Singh¹*  ·  Dr Pramod Kumar Yadav²  ·  Dr Lokesh Jain³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 dirty="0">
                <a:solidFill>
                  <a:srgbClr val="5A6B76"/>
                </a:solidFill>
                <a:latin typeface="Arial"/>
              </a:rPr>
              <a:t>¹ Independent Researcher | Tata Consultancy Services, London, UK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 dirty="0">
                <a:solidFill>
                  <a:srgbClr val="5A6B76"/>
                </a:solidFill>
                <a:latin typeface="Arial"/>
              </a:rPr>
              <a:t>² Dept. of Computer Science Engineering, National Institute of Technology Srinagar, India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 dirty="0">
                <a:solidFill>
                  <a:srgbClr val="5A6B76"/>
                </a:solidFill>
                <a:latin typeface="Arial"/>
              </a:rPr>
              <a:t>³ Dept. of AI &amp; Data Science, Vivekananda Institute of Professional Studies – Technical Campus, Delhi, India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 dirty="0">
                <a:solidFill>
                  <a:srgbClr val="5A6B76"/>
                </a:solidFill>
                <a:latin typeface="Arial"/>
              </a:rPr>
              <a:t>* </a:t>
            </a:r>
            <a:r>
              <a:rPr sz="1150" b="0" i="0" dirty="0">
                <a:solidFill>
                  <a:srgbClr val="5A6B76"/>
                </a:solidFill>
                <a:latin typeface="Arial"/>
                <a:hlinkClick r:id="rId2"/>
              </a:rPr>
              <a:t>errajeshcs@gmail.com</a:t>
            </a:r>
            <a:endParaRPr lang="en-GB" sz="1150" b="0" i="0" dirty="0">
              <a:solidFill>
                <a:srgbClr val="5A6B76"/>
              </a:solidFill>
              <a:latin typeface="Arial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endParaRPr lang="en-GB" sz="1150" dirty="0">
              <a:solidFill>
                <a:srgbClr val="5A6B76"/>
              </a:solidFill>
              <a:latin typeface="Arial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en-GB" sz="1800" b="1" dirty="0">
              <a:solidFill>
                <a:srgbClr val="1C7293"/>
              </a:solidFill>
              <a:latin typeface="Arial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en-GB" sz="1800" b="1" dirty="0">
              <a:solidFill>
                <a:srgbClr val="1C7293"/>
              </a:solidFill>
              <a:latin typeface="Arial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GB" sz="1800" b="1" dirty="0">
                <a:solidFill>
                  <a:srgbClr val="1C7293"/>
                </a:solidFill>
                <a:latin typeface="Arial"/>
              </a:rPr>
              <a:t>Presenting Author  : Rajesh Kumar Singh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6EC7D7-029A-7F27-3020-A1C84FB9A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644" y="321381"/>
            <a:ext cx="2724644" cy="752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6B854A-98A1-95A7-8B25-3D8459E50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257" y="463268"/>
            <a:ext cx="2454513" cy="634220"/>
          </a:xfrm>
          <a:prstGeom prst="rect">
            <a:avLst/>
          </a:prstGeom>
        </p:spPr>
      </p:pic>
      <p:pic>
        <p:nvPicPr>
          <p:cNvPr id="11" name="Picture 10" descr="A blue circle with a circle with a circle and a circle with a circle with a circle with a circle with a circle with a circle with a circle with a circle with a circle with a circle  Description automatically generated">
            <a:extLst>
              <a:ext uri="{FF2B5EF4-FFF2-40B4-BE49-F238E27FC236}">
                <a16:creationId xmlns:a16="http://schemas.microsoft.com/office/drawing/2014/main" id="{37B8E793-61BF-09B1-7CF5-1BA57E162EC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" y="183197"/>
            <a:ext cx="1077023" cy="10770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966820-1A8E-2DE9-DB97-163859BE9A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5918" y="111733"/>
            <a:ext cx="1386852" cy="11631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DA4093-0CFA-A0D3-94C0-441889C689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9919" y="321381"/>
            <a:ext cx="1672589" cy="7618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A12D73-B88F-DFC1-2DB3-BF52F4292B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1941" y="168515"/>
            <a:ext cx="1262414" cy="11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1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452" y="1657350"/>
            <a:ext cx="11611993" cy="473457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65A82"/>
                </a:solidFill>
                <a:latin typeface="Arial"/>
              </a:rPr>
              <a:t>1. INDEX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8D47CF0-2332-8EC0-AAB1-09BB874F4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746" y="6460101"/>
            <a:ext cx="11678776" cy="365125"/>
          </a:xfrm>
        </p:spPr>
        <p:txBody>
          <a:bodyPr/>
          <a:lstStyle/>
          <a:p>
            <a:pPr algn="l"/>
            <a:r>
              <a:rPr lang="en-US" sz="1400" i="1" dirty="0">
                <a:solidFill>
                  <a:schemeClr val="tx1"/>
                </a:solidFill>
                <a:latin typeface="Comic Sans MS" panose="030F0702030302020204" pitchFamily="66" charset="0"/>
              </a:rPr>
              <a:t>7th International Conference on Data Analytics &amp; Management (ICDAM-2026)</a:t>
            </a:r>
            <a:endParaRPr lang="en-IN" sz="1400" i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57BE03-A413-5809-7229-3CB29078F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644" y="321381"/>
            <a:ext cx="2724644" cy="752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6F1766-1A07-14BE-80E7-4CF76B9EF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257" y="463268"/>
            <a:ext cx="2454513" cy="634220"/>
          </a:xfrm>
          <a:prstGeom prst="rect">
            <a:avLst/>
          </a:prstGeom>
        </p:spPr>
      </p:pic>
      <p:pic>
        <p:nvPicPr>
          <p:cNvPr id="7" name="Picture 6" descr="A blue circle with a circle with a circle and a circle with a circle with a circle with a circle with a circle with a circle with a circle with a circle with a circle with a circle  Description automatically generated">
            <a:extLst>
              <a:ext uri="{FF2B5EF4-FFF2-40B4-BE49-F238E27FC236}">
                <a16:creationId xmlns:a16="http://schemas.microsoft.com/office/drawing/2014/main" id="{859E888A-80A1-6F3F-67BC-DDFADF97189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" y="183197"/>
            <a:ext cx="1077023" cy="1077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546F62-CAEE-9B66-B89F-00AA7191F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1522" y="163366"/>
            <a:ext cx="1386852" cy="11631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F98405-E294-0A6F-AC82-862096F607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1127" y="359942"/>
            <a:ext cx="1672589" cy="7618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851A84D-6AEC-D94E-AA58-3C9E26C0BD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2372" y="163366"/>
            <a:ext cx="1262414" cy="110638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14400" y="2240280"/>
            <a:ext cx="5074920" cy="621792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24128" y="2345436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6576" rIns="0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240280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B3A"/>
                </a:solidFill>
                <a:latin typeface="Arial"/>
              </a:rPr>
              <a:t>Abstract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008376"/>
            <a:ext cx="5074920" cy="621792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24128" y="3113532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6576" rIns="0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008376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B3A"/>
                </a:solidFill>
                <a:latin typeface="Arial"/>
              </a:rPr>
              <a:t>Introduction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776472"/>
            <a:ext cx="5074920" cy="621792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4128" y="3881628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6576" rIns="0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776472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B3A"/>
                </a:solidFill>
                <a:latin typeface="Arial"/>
              </a:rPr>
              <a:t>Literature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44568"/>
            <a:ext cx="5074920" cy="621792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24128" y="4649724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6576" rIns="0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4544568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B3A"/>
                </a:solidFill>
                <a:latin typeface="Arial"/>
              </a:rPr>
              <a:t>Research Gaps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312664"/>
            <a:ext cx="5074920" cy="621792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24128" y="541782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6576" rIns="0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5312664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B3A"/>
                </a:solidFill>
                <a:latin typeface="Arial"/>
              </a:rPr>
              <a:t>Proposed Methodology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2240280"/>
            <a:ext cx="5074920" cy="621792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739128" y="2345436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6576" rIns="0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7768" y="2240280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B3A"/>
                </a:solidFill>
                <a:latin typeface="Arial"/>
              </a:rPr>
              <a:t>Star Schema &amp; Data 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3008376"/>
            <a:ext cx="5074920" cy="621792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739128" y="3113532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6576" rIns="0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7768" y="3008376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B3A"/>
                </a:solidFill>
                <a:latin typeface="Arial"/>
              </a:rPr>
              <a:t>Results &amp; Discussion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3776472"/>
            <a:ext cx="5074920" cy="621792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739128" y="3881628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6576" rIns="0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87768" y="3776472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B3A"/>
                </a:solidFill>
                <a:latin typeface="Arial"/>
              </a:rPr>
              <a:t>Comparative Analysis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4544568"/>
            <a:ext cx="5074920" cy="621792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739128" y="4649724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6576" rIns="0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7768" y="4544568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B3A"/>
                </a:solidFill>
                <a:latin typeface="Arial"/>
              </a:rPr>
              <a:t>Conclusion &amp; Future Work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29400" y="5312664"/>
            <a:ext cx="5074920" cy="621792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739128" y="541782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36576" rIns="0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87768" y="5312664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B3A"/>
                </a:solidFill>
                <a:latin typeface="Arial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76373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213" y="1371000"/>
            <a:ext cx="11633008" cy="509532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65A82"/>
                </a:solidFill>
                <a:latin typeface="Arial"/>
              </a:rPr>
              <a:t>2. ABSTRACT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1DE3040-F9C4-1D35-B76A-BCE4C8CAB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2414" y="6522792"/>
            <a:ext cx="11878605" cy="320829"/>
          </a:xfrm>
        </p:spPr>
        <p:txBody>
          <a:bodyPr/>
          <a:lstStyle/>
          <a:p>
            <a:pPr algn="l"/>
            <a:r>
              <a:rPr lang="en-US" sz="1400" i="1" dirty="0">
                <a:solidFill>
                  <a:schemeClr val="tx1"/>
                </a:solidFill>
                <a:latin typeface="Comic Sans MS" panose="030F0702030302020204" pitchFamily="66" charset="0"/>
              </a:rPr>
              <a:t>7th International Conference on Data Analytics &amp; Management (ICDAM-2026)</a:t>
            </a:r>
            <a:endParaRPr lang="en-IN" sz="1400" i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FBEE60-FFDA-0449-960F-1EC3200A7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644" y="321381"/>
            <a:ext cx="2724644" cy="752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9CEAEB-95B8-6479-9F5F-5006AA8A4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257" y="463268"/>
            <a:ext cx="2454513" cy="634220"/>
          </a:xfrm>
          <a:prstGeom prst="rect">
            <a:avLst/>
          </a:prstGeom>
        </p:spPr>
      </p:pic>
      <p:pic>
        <p:nvPicPr>
          <p:cNvPr id="7" name="Picture 6" descr="A blue circle with a circle with a circle and a circle with a circle with a circle with a circle with a circle with a circle with a circle with a circle with a circle with a circle  Description automatically generated">
            <a:extLst>
              <a:ext uri="{FF2B5EF4-FFF2-40B4-BE49-F238E27FC236}">
                <a16:creationId xmlns:a16="http://schemas.microsoft.com/office/drawing/2014/main" id="{B9059C60-E5F1-A3FF-DA2C-5DBCE55C79B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" y="183197"/>
            <a:ext cx="1077023" cy="1077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B35073-69BD-0DAA-8759-39818CEE0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4767" y="97053"/>
            <a:ext cx="1386852" cy="11631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CE57EC-10DE-3BC2-6F48-0ACE774618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4223" y="399432"/>
            <a:ext cx="1672589" cy="7618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3200CC-0457-5380-A68D-8BEEF0ABA5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2021" y="208143"/>
            <a:ext cx="1262414" cy="11063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10312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22B3A"/>
                </a:solidFill>
                <a:latin typeface="Arial"/>
              </a:rPr>
              <a:t>DS4Earth is an end-to-end data science framework that turns multi-source climate data into actionable insights. It unifies three pillars — data engineering, machine learning and visual analytics — in a single cloud-native pipeline on Databricks, using the Medallion Architecture and an optimized star schema for scalable, query-efficient climate analytics.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54680"/>
            <a:ext cx="3502152" cy="1783080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36576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DATA ENGINEERING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Automated Python/PySpark ETL on Databricks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Bronze → Silver → Gold Medallion layers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Star schema with 5 dimensions (Delta Lake, ACID)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3154680"/>
            <a:ext cx="3502152" cy="1783080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36576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C7293"/>
                </a:solidFill>
                <a:latin typeface="Arial"/>
              </a:rPr>
              <a:t>MACHINE LEARNING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LSTM temperature forecasting (RMSE 1.85 °C)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Random Forest rainfall (RMSE 0.68 mm)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KMeans climate zones + regression causal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3154680"/>
            <a:ext cx="3502152" cy="1783080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36576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9A7C"/>
                </a:solidFill>
                <a:latin typeface="Arial"/>
              </a:rPr>
              <a:t>VISUAL ANALYTICS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Interactive Tableau climate dashboards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Country maps, trends, extreme-event views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Auto-refreshed from the Gold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138928"/>
            <a:ext cx="2615184" cy="9601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1.85 °C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CEEF5"/>
                </a:solidFill>
                <a:latin typeface="Arial"/>
              </a:rPr>
              <a:t>LSTM RMSE —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47288" y="5138928"/>
            <a:ext cx="2615184" cy="9601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0.68 mm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CEEF5"/>
                </a:solidFill>
                <a:latin typeface="Arial"/>
              </a:rPr>
              <a:t>Random Forest RMSE — rainfall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5138928"/>
            <a:ext cx="2615184" cy="9601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0.61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CEEF5"/>
                </a:solidFill>
                <a:latin typeface="Arial"/>
              </a:rPr>
              <a:t>KMeans silhouette 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264" y="5138928"/>
            <a:ext cx="2615184" cy="9601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99.9%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CEEF5"/>
                </a:solidFill>
                <a:latin typeface="Arial"/>
              </a:rPr>
              <a:t>ETL pipeline uptime</a:t>
            </a:r>
          </a:p>
        </p:txBody>
      </p:sp>
    </p:spTree>
    <p:extLst>
      <p:ext uri="{BB962C8B-B14F-4D97-AF65-F5344CB8AC3E}">
        <p14:creationId xmlns:p14="http://schemas.microsoft.com/office/powerpoint/2010/main" val="121973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213" y="1365885"/>
            <a:ext cx="11407806" cy="50242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65A82"/>
                </a:solidFill>
                <a:latin typeface="Arial"/>
              </a:rPr>
              <a:t>3. INTRODUCTION</a:t>
            </a:r>
          </a:p>
        </p:txBody>
      </p:sp>
      <p:sp>
        <p:nvSpPr>
          <p:cNvPr id="15" name="Footer Placeholder 13">
            <a:extLst>
              <a:ext uri="{FF2B5EF4-FFF2-40B4-BE49-F238E27FC236}">
                <a16:creationId xmlns:a16="http://schemas.microsoft.com/office/drawing/2014/main" id="{D4AD199D-4600-47B5-4590-8FCA437D9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7271" y="6492875"/>
            <a:ext cx="12056127" cy="365125"/>
          </a:xfrm>
        </p:spPr>
        <p:txBody>
          <a:bodyPr/>
          <a:lstStyle/>
          <a:p>
            <a:pPr algn="l"/>
            <a:r>
              <a:rPr lang="en-US" sz="1400" i="1" dirty="0">
                <a:solidFill>
                  <a:schemeClr val="tx1"/>
                </a:solidFill>
                <a:latin typeface="Comic Sans MS" panose="030F0702030302020204" pitchFamily="66" charset="0"/>
              </a:rPr>
              <a:t>7th International Conference on Data Analytics &amp; Management (ICDAM-2026)</a:t>
            </a:r>
            <a:endParaRPr lang="en-IN" sz="1400" i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277F1-0219-E9D1-4006-9279A4904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644" y="321381"/>
            <a:ext cx="2724644" cy="752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22CD4D-2AFD-1AC9-CB5F-D212E7541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257" y="463268"/>
            <a:ext cx="2454513" cy="634220"/>
          </a:xfrm>
          <a:prstGeom prst="rect">
            <a:avLst/>
          </a:prstGeom>
        </p:spPr>
      </p:pic>
      <p:pic>
        <p:nvPicPr>
          <p:cNvPr id="7" name="Picture 6" descr="A blue circle with a circle with a circle and a circle with a circle with a circle with a circle with a circle with a circle with a circle with a circle with a circle with a circle  Description automatically generated">
            <a:extLst>
              <a:ext uri="{FF2B5EF4-FFF2-40B4-BE49-F238E27FC236}">
                <a16:creationId xmlns:a16="http://schemas.microsoft.com/office/drawing/2014/main" id="{4031730D-BEAC-EE83-B096-EEC478E5A6E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" y="183197"/>
            <a:ext cx="1077023" cy="1077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EEB1EE-75A6-62D6-DE95-C383E423F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3905" y="97053"/>
            <a:ext cx="1386852" cy="11631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C674DE-8594-133D-3113-A2E6FA167A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0951" y="301906"/>
            <a:ext cx="1672589" cy="7618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F963E9-2AFA-F7BF-7F42-A5C9F1DE04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6295" y="168515"/>
            <a:ext cx="1262414" cy="11063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800" y="2148840"/>
            <a:ext cx="64008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 i="0">
                <a:solidFill>
                  <a:srgbClr val="029A7C"/>
                </a:solidFill>
                <a:latin typeface="Arial"/>
              </a:rPr>
              <a:t>▸  </a:t>
            </a:r>
            <a:r>
              <a:rPr sz="1350" b="1" i="0">
                <a:solidFill>
                  <a:srgbClr val="122B3A"/>
                </a:solidFill>
                <a:latin typeface="Arial"/>
              </a:rPr>
              <a:t>Climate change is one of the defining challenges of our time —</a:t>
            </a:r>
            <a:r>
              <a:rPr sz="1350" b="0" i="0">
                <a:solidFill>
                  <a:srgbClr val="122B3A"/>
                </a:solidFill>
                <a:latin typeface="Arial"/>
              </a:rPr>
              <a:t> rising temperatures, erratic rainfall and excessive emissions demand data-driven responses.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 i="0">
                <a:solidFill>
                  <a:srgbClr val="029A7C"/>
                </a:solidFill>
                <a:latin typeface="Arial"/>
              </a:rPr>
              <a:t>▸  </a:t>
            </a:r>
            <a:r>
              <a:rPr sz="1350" b="1" i="0">
                <a:solidFill>
                  <a:srgbClr val="122B3A"/>
                </a:solidFill>
                <a:latin typeface="Arial"/>
              </a:rPr>
              <a:t>Climate data is massive but fragmented:</a:t>
            </a:r>
            <a:r>
              <a:rPr sz="1350" b="0" i="0">
                <a:solidFill>
                  <a:srgbClr val="122B3A"/>
                </a:solidFill>
                <a:latin typeface="Arial"/>
              </a:rPr>
              <a:t> satellites, weather stations, simulations and national archives rarely meet in one warehouse.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 i="0">
                <a:solidFill>
                  <a:srgbClr val="029A7C"/>
                </a:solidFill>
                <a:latin typeface="Arial"/>
              </a:rPr>
              <a:t>▸  </a:t>
            </a:r>
            <a:r>
              <a:rPr sz="1350" b="1" i="0">
                <a:solidFill>
                  <a:srgbClr val="122B3A"/>
                </a:solidFill>
                <a:latin typeface="Arial"/>
              </a:rPr>
              <a:t>DS4Earth bridges this gap</a:t>
            </a:r>
            <a:r>
              <a:rPr sz="1350" b="0" i="0">
                <a:solidFill>
                  <a:srgbClr val="122B3A"/>
                </a:solidFill>
                <a:latin typeface="Arial"/>
              </a:rPr>
              <a:t> with a production-ready ETL pipeline, an optimized star schema, multi-model machine learning and interactive dashboards.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 i="0">
                <a:solidFill>
                  <a:srgbClr val="029A7C"/>
                </a:solidFill>
                <a:latin typeface="Arial"/>
              </a:rPr>
              <a:t>▸  </a:t>
            </a:r>
            <a:r>
              <a:rPr sz="1350" b="1" i="0">
                <a:solidFill>
                  <a:srgbClr val="122B3A"/>
                </a:solidFill>
                <a:latin typeface="Arial"/>
              </a:rPr>
              <a:t>Goal:</a:t>
            </a:r>
            <a:r>
              <a:rPr sz="1350" b="0" i="0">
                <a:solidFill>
                  <a:srgbClr val="122B3A"/>
                </a:solidFill>
                <a:latin typeface="Arial"/>
              </a:rPr>
              <a:t> interpretable, decision-ready climate insights for forecasting, zone classification and policy planning — from raw API feeds to dashboards in under 10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2194560"/>
            <a:ext cx="1993392" cy="1810512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065A82"/>
                </a:solidFill>
                <a:latin typeface="Arial"/>
              </a:rPr>
              <a:t>150+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76"/>
                </a:solidFill>
                <a:latin typeface="Arial"/>
              </a:rPr>
              <a:t>countries covered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10344" y="2194560"/>
            <a:ext cx="1993392" cy="1810512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C7293"/>
                </a:solidFill>
                <a:latin typeface="Arial"/>
              </a:rPr>
              <a:t>1990–2025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76"/>
                </a:solidFill>
                <a:latin typeface="Arial"/>
              </a:rPr>
              <a:t>35 years of climate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4169664"/>
            <a:ext cx="1993392" cy="1810512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029A7C"/>
                </a:solidFill>
                <a:latin typeface="Arial"/>
              </a:rPr>
              <a:t>&lt; 10 min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76"/>
                </a:solidFill>
                <a:latin typeface="Arial"/>
              </a:rPr>
              <a:t>ingestion-to-insight latency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10344" y="4169664"/>
            <a:ext cx="1993392" cy="1810512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065A82"/>
                </a:solidFill>
                <a:latin typeface="Arial"/>
              </a:rPr>
              <a:t>4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76"/>
                </a:solidFill>
                <a:latin typeface="Arial"/>
              </a:rPr>
              <a:t>ML models in one pipeline</a:t>
            </a:r>
          </a:p>
        </p:txBody>
      </p:sp>
    </p:spTree>
    <p:extLst>
      <p:ext uri="{BB962C8B-B14F-4D97-AF65-F5344CB8AC3E}">
        <p14:creationId xmlns:p14="http://schemas.microsoft.com/office/powerpoint/2010/main" val="1745122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457325"/>
            <a:ext cx="11407806" cy="493459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65A82"/>
                </a:solidFill>
                <a:latin typeface="Arial"/>
              </a:rPr>
              <a:t>4. LITERATURE REVIEW</a:t>
            </a:r>
          </a:p>
        </p:txBody>
      </p:sp>
      <p:sp>
        <p:nvSpPr>
          <p:cNvPr id="15" name="Footer Placeholder 13">
            <a:extLst>
              <a:ext uri="{FF2B5EF4-FFF2-40B4-BE49-F238E27FC236}">
                <a16:creationId xmlns:a16="http://schemas.microsoft.com/office/drawing/2014/main" id="{D58FD5A8-0434-B8CD-7DD8-CD467633E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79" y="6454908"/>
            <a:ext cx="11801508" cy="365125"/>
          </a:xfrm>
        </p:spPr>
        <p:txBody>
          <a:bodyPr/>
          <a:lstStyle/>
          <a:p>
            <a:pPr algn="l"/>
            <a:r>
              <a:rPr lang="en-US" sz="1400" i="1" dirty="0">
                <a:solidFill>
                  <a:schemeClr val="tx1"/>
                </a:solidFill>
                <a:latin typeface="Comic Sans MS" panose="030F0702030302020204" pitchFamily="66" charset="0"/>
              </a:rPr>
              <a:t>7th International Conference on Data Analytics &amp; Management (ICDAM-2026)</a:t>
            </a:r>
            <a:endParaRPr lang="en-IN" sz="1400" i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9AA77A-7BC9-7584-2F69-4276FE96A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644" y="321381"/>
            <a:ext cx="2724644" cy="752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D0129B-B452-32B5-7286-4BCA78336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257" y="463268"/>
            <a:ext cx="2454513" cy="634220"/>
          </a:xfrm>
          <a:prstGeom prst="rect">
            <a:avLst/>
          </a:prstGeom>
        </p:spPr>
      </p:pic>
      <p:pic>
        <p:nvPicPr>
          <p:cNvPr id="7" name="Picture 6" descr="A blue circle with a circle with a circle and a circle with a circle with a circle with a circle with a circle with a circle with a circle with a circle with a circle with a circle  Description automatically generated">
            <a:extLst>
              <a:ext uri="{FF2B5EF4-FFF2-40B4-BE49-F238E27FC236}">
                <a16:creationId xmlns:a16="http://schemas.microsoft.com/office/drawing/2014/main" id="{744814CA-7B24-3DF3-60E7-46AA877EECE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" y="183197"/>
            <a:ext cx="1077023" cy="1077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2E420F-1938-96B8-A66F-EFD5D4D2F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8087" y="97053"/>
            <a:ext cx="1386852" cy="11631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046FB3-78E4-E4EC-E936-4F8ADD7EBC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1997" y="335597"/>
            <a:ext cx="1672589" cy="7618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8BE1A3-98A4-CB3A-0B32-DD94ECE5FF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8703" y="227185"/>
            <a:ext cx="1262414" cy="1106385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5800" y="2194560"/>
          <a:ext cx="1083564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Study</a:t>
                      </a:r>
                    </a:p>
                  </a:txBody>
                  <a:tcPr marL="73152" marR="73152" marT="27432" marB="27432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Focus Area</a:t>
                      </a:r>
                    </a:p>
                  </a:txBody>
                  <a:tcPr marL="73152" marR="73152" marT="27432" marB="27432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Key Contribution</a:t>
                      </a:r>
                    </a:p>
                  </a:txBody>
                  <a:tcPr marL="73152" marR="73152" marT="27432" marB="27432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Relevance to DS4Earth</a:t>
                      </a:r>
                    </a:p>
                  </a:txBody>
                  <a:tcPr marL="73152" marR="73152" marT="27432" marB="27432" anchor="ctr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Hsieh (2022)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Environmental data science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Framework uniting domain expertise with LSTM, Random Forest and CNN for climate series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Guides our multi-model ML design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Camps-Valls et al. (2019)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Deep learning for Earth sciences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Systematic review of CNNs for satellite imagery, LSTMs for spatiotemporal forecasting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Theoretical basis for LSTM forecasting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Armbrust et al. (2020)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Delta Lake / lakehouse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High-performance ACID table storage over cloud object stores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Foundation of our Medallion layers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Salami (2025)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Hub-Star Modelling 2.0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Star-schema modelling patterns for Medallion architectures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Informs our star schema design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ESA / NASA / Copernicus (2024)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ML + environmental big 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Joint report on integrating ML with Earth-observation pipelines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Validates the EO-to-ML pipeline approach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26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65A82"/>
                </a:solidFill>
                <a:latin typeface="Arial"/>
              </a:rPr>
              <a:t>5. RESEARCH GAPS</a:t>
            </a:r>
          </a:p>
        </p:txBody>
      </p:sp>
      <p:sp>
        <p:nvSpPr>
          <p:cNvPr id="15" name="Footer Placeholder 13">
            <a:extLst>
              <a:ext uri="{FF2B5EF4-FFF2-40B4-BE49-F238E27FC236}">
                <a16:creationId xmlns:a16="http://schemas.microsoft.com/office/drawing/2014/main" id="{243A8C51-82F4-468F-E365-16EF72C2D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77" y="6425914"/>
            <a:ext cx="11819265" cy="365125"/>
          </a:xfrm>
        </p:spPr>
        <p:txBody>
          <a:bodyPr/>
          <a:lstStyle/>
          <a:p>
            <a:pPr algn="l"/>
            <a:r>
              <a:rPr lang="en-US" sz="1400" i="1" dirty="0">
                <a:solidFill>
                  <a:schemeClr val="tx1"/>
                </a:solidFill>
                <a:latin typeface="Comic Sans MS" panose="030F0702030302020204" pitchFamily="66" charset="0"/>
              </a:rPr>
              <a:t>7th International Conference on Data Analytics &amp; Management (ICDAM-2026)</a:t>
            </a:r>
            <a:endParaRPr lang="en-IN" sz="1400" i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F49E7-4D75-26E4-949C-7930D41D3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644" y="321381"/>
            <a:ext cx="2724644" cy="752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FB9736-305D-AA7C-F660-7015BC441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257" y="463268"/>
            <a:ext cx="2454513" cy="634220"/>
          </a:xfrm>
          <a:prstGeom prst="rect">
            <a:avLst/>
          </a:prstGeom>
        </p:spPr>
      </p:pic>
      <p:pic>
        <p:nvPicPr>
          <p:cNvPr id="7" name="Picture 6" descr="A blue circle with a circle with a circle and a circle with a circle with a circle with a circle with a circle with a circle with a circle with a circle with a circle with a circle  Description automatically generated">
            <a:extLst>
              <a:ext uri="{FF2B5EF4-FFF2-40B4-BE49-F238E27FC236}">
                <a16:creationId xmlns:a16="http://schemas.microsoft.com/office/drawing/2014/main" id="{7BC228DF-9A5E-01BB-4699-B46EE002817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" y="183197"/>
            <a:ext cx="1077023" cy="1077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7C57FB-42C8-8660-2F48-54BC14299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447" y="97053"/>
            <a:ext cx="1386852" cy="11631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1DD95B-F10B-9C3D-3C9D-6B21A5DEEC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6367" y="342915"/>
            <a:ext cx="1672589" cy="7618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FC0B78-D55F-CDFE-3F48-C7643AE0DE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3093" y="183197"/>
            <a:ext cx="1262414" cy="11063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212140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6"/>
                </a:solidFill>
                <a:latin typeface="Arial"/>
              </a:rPr>
              <a:t>IDENTIFIED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29A7C"/>
                </a:solidFill>
                <a:latin typeface="Arial"/>
              </a:rPr>
              <a:t>HOW DS4EARTH RESPONDS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468880"/>
            <a:ext cx="6583680" cy="850392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Gap 1 — Fragmented climate data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Satellite, sensor and simulation feeds live in silos with no unified, query-ready warehouse.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33488" y="2894076"/>
            <a:ext cx="365760" cy="0"/>
          </a:xfrm>
          <a:prstGeom prst="line">
            <a:avLst/>
          </a:prstGeom>
          <a:ln w="28575">
            <a:solidFill>
              <a:srgbClr val="029A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54112" y="2468880"/>
            <a:ext cx="3767328" cy="850392"/>
          </a:xfrm>
          <a:prstGeom prst="roundRect">
            <a:avLst>
              <a:gd name="adj" fmla="val 10000"/>
            </a:avLst>
          </a:prstGeom>
          <a:solidFill>
            <a:srgbClr val="E2F4EF"/>
          </a:solidFill>
          <a:ln w="9525">
            <a:solidFill>
              <a:srgbClr val="B5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73152" bIns="36576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Medallion lakehouse unifies 5 sources in Bronze → Silver → Gold layers.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29000"/>
            <a:ext cx="6583680" cy="850392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Gap 2 — Research-grade ML, not production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Most climate ML studies stop at notebooks — no automated, monitored pipelines.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33488" y="3854196"/>
            <a:ext cx="365760" cy="0"/>
          </a:xfrm>
          <a:prstGeom prst="line">
            <a:avLst/>
          </a:prstGeom>
          <a:ln w="28575">
            <a:solidFill>
              <a:srgbClr val="029A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54112" y="3429000"/>
            <a:ext cx="3767328" cy="850392"/>
          </a:xfrm>
          <a:prstGeom prst="roundRect">
            <a:avLst>
              <a:gd name="adj" fmla="val 10000"/>
            </a:avLst>
          </a:prstGeom>
          <a:solidFill>
            <a:srgbClr val="E2F4EF"/>
          </a:solidFill>
          <a:ln w="9525">
            <a:solidFill>
              <a:srgbClr val="B5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73152" bIns="36576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Scheduled 10-minute ETL jobs, 30-day stress test, 99.9% uptime.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389120"/>
            <a:ext cx="6583680" cy="850392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Gap 3 — Weak schema design evidence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Little guidance on warehouse schemas (star vs normalized) for climate OLAP workloads.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33488" y="4814316"/>
            <a:ext cx="365760" cy="0"/>
          </a:xfrm>
          <a:prstGeom prst="line">
            <a:avLst/>
          </a:prstGeom>
          <a:ln w="28575">
            <a:solidFill>
              <a:srgbClr val="029A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54112" y="4389120"/>
            <a:ext cx="3767328" cy="850392"/>
          </a:xfrm>
          <a:prstGeom prst="roundRect">
            <a:avLst>
              <a:gd name="adj" fmla="val 10000"/>
            </a:avLst>
          </a:prstGeom>
          <a:solidFill>
            <a:srgbClr val="E2F4EF"/>
          </a:solidFill>
          <a:ln w="9525">
            <a:solidFill>
              <a:srgbClr val="B5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73152" bIns="36576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Optimized 5-dimension star schema cuts query latency by ~35%.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349240"/>
            <a:ext cx="6583680" cy="850392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Gap 4 — Insights locked in models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Few systems deliver interpretable, decision-ready visual analytics to policymakers.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33488" y="5774436"/>
            <a:ext cx="365760" cy="0"/>
          </a:xfrm>
          <a:prstGeom prst="line">
            <a:avLst/>
          </a:prstGeom>
          <a:ln w="28575">
            <a:solidFill>
              <a:srgbClr val="029A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754112" y="5349240"/>
            <a:ext cx="3767328" cy="850392"/>
          </a:xfrm>
          <a:prstGeom prst="roundRect">
            <a:avLst>
              <a:gd name="adj" fmla="val 10000"/>
            </a:avLst>
          </a:prstGeom>
          <a:solidFill>
            <a:srgbClr val="E2F4EF"/>
          </a:solidFill>
          <a:ln w="9525">
            <a:solidFill>
              <a:srgbClr val="B5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73152" bIns="36576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2B3A"/>
                </a:solidFill>
                <a:latin typeface="Arial"/>
              </a:rPr>
              <a:t>Auto-refreshing Tableau dashboards for forecasts, zones and policy views.</a:t>
            </a:r>
          </a:p>
        </p:txBody>
      </p:sp>
    </p:spTree>
    <p:extLst>
      <p:ext uri="{BB962C8B-B14F-4D97-AF65-F5344CB8AC3E}">
        <p14:creationId xmlns:p14="http://schemas.microsoft.com/office/powerpoint/2010/main" val="242881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65A82"/>
                </a:solidFill>
                <a:latin typeface="Arial"/>
              </a:rPr>
              <a:t>6. PROPOSED METHODOLOGY — END-TO-END PIPELINE</a:t>
            </a:r>
          </a:p>
        </p:txBody>
      </p:sp>
      <p:sp>
        <p:nvSpPr>
          <p:cNvPr id="15" name="Footer Placeholder 13">
            <a:extLst>
              <a:ext uri="{FF2B5EF4-FFF2-40B4-BE49-F238E27FC236}">
                <a16:creationId xmlns:a16="http://schemas.microsoft.com/office/drawing/2014/main" id="{ADB8911D-998E-158D-FF12-66707BA9B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390" y="6443454"/>
            <a:ext cx="11703854" cy="365125"/>
          </a:xfrm>
        </p:spPr>
        <p:txBody>
          <a:bodyPr/>
          <a:lstStyle/>
          <a:p>
            <a:pPr algn="l"/>
            <a:r>
              <a:rPr lang="en-US" sz="1400" i="1" dirty="0">
                <a:solidFill>
                  <a:schemeClr val="tx1"/>
                </a:solidFill>
                <a:latin typeface="Comic Sans MS" panose="030F0702030302020204" pitchFamily="66" charset="0"/>
              </a:rPr>
              <a:t>7th International Conference on Data Analytics &amp; Management (ICDAM-2026)</a:t>
            </a:r>
            <a:endParaRPr lang="en-IN" sz="1400" i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E02DA5-5FA7-BB3E-BE04-1B370A562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644" y="321381"/>
            <a:ext cx="2724644" cy="752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B9D26C-FAE0-AB7A-18FD-4C75CF79F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257" y="463268"/>
            <a:ext cx="2454513" cy="634220"/>
          </a:xfrm>
          <a:prstGeom prst="rect">
            <a:avLst/>
          </a:prstGeom>
        </p:spPr>
      </p:pic>
      <p:pic>
        <p:nvPicPr>
          <p:cNvPr id="7" name="Picture 6" descr="A blue circle with a circle with a circle and a circle with a circle with a circle with a circle with a circle with a circle with a circle with a circle with a circle with a circle  Description automatically generated">
            <a:extLst>
              <a:ext uri="{FF2B5EF4-FFF2-40B4-BE49-F238E27FC236}">
                <a16:creationId xmlns:a16="http://schemas.microsoft.com/office/drawing/2014/main" id="{10E906D4-705C-82A1-C796-5CED477C615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" y="183197"/>
            <a:ext cx="1077023" cy="1077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C58E96-6B3D-BCDE-CAB7-A532326F6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745" y="97053"/>
            <a:ext cx="1386852" cy="11631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FD9C19-31F9-FA64-DA69-B3054619A8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6139" y="324282"/>
            <a:ext cx="1672589" cy="7618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48C7BF-34AD-020D-D9FB-63ADCAED09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1812" y="144529"/>
            <a:ext cx="1262414" cy="110638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85800" y="2212848"/>
            <a:ext cx="2148840" cy="475488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B3A"/>
                </a:solidFill>
                <a:latin typeface="Arial"/>
              </a:rPr>
              <a:t>NASA POWER API (satellite EO)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07208"/>
            <a:ext cx="2148840" cy="475488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B3A"/>
                </a:solidFill>
                <a:latin typeface="Arial"/>
              </a:rPr>
              <a:t>Weather Stack API (real-time sensors)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01568"/>
            <a:ext cx="2148840" cy="475488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B3A"/>
                </a:solidFill>
                <a:latin typeface="Arial"/>
              </a:rPr>
              <a:t>IMD Open Data (national met.)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95928"/>
            <a:ext cx="2148840" cy="475488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B3A"/>
                </a:solidFill>
                <a:latin typeface="Arial"/>
              </a:rPr>
              <a:t>Kaggle / CMIP6 (simulations)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90195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B76"/>
                </a:solidFill>
                <a:latin typeface="Arial"/>
              </a:rPr>
              <a:t>DATA SOURCES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679192"/>
            <a:ext cx="1554480" cy="132588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ETL PIPELINE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5EAF3"/>
                </a:solidFill>
                <a:latin typeface="Arial"/>
              </a:rPr>
              <a:t>Python / PySpark — Databricks Jobs, 10-min cycles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52928" y="2450591"/>
            <a:ext cx="338328" cy="0"/>
          </a:xfrm>
          <a:prstGeom prst="line">
            <a:avLst/>
          </a:prstGeom>
          <a:ln w="1905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52928" y="3044952"/>
            <a:ext cx="338328" cy="0"/>
          </a:xfrm>
          <a:prstGeom prst="line">
            <a:avLst/>
          </a:prstGeom>
          <a:ln w="1905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2928" y="3639311"/>
            <a:ext cx="338328" cy="0"/>
          </a:xfrm>
          <a:prstGeom prst="line">
            <a:avLst/>
          </a:prstGeom>
          <a:ln w="1905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852928" y="4233672"/>
            <a:ext cx="338328" cy="0"/>
          </a:xfrm>
          <a:prstGeom prst="line">
            <a:avLst/>
          </a:prstGeom>
          <a:ln w="1905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285232" y="2679192"/>
            <a:ext cx="1389888" cy="1325880"/>
          </a:xfrm>
          <a:prstGeom prst="roundRect">
            <a:avLst>
              <a:gd name="adj" fmla="val 10000"/>
            </a:avLst>
          </a:prstGeom>
          <a:solidFill>
            <a:srgbClr val="F6EADC"/>
          </a:solidFill>
          <a:ln w="19050">
            <a:solidFill>
              <a:srgbClr val="B07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B0702A"/>
                </a:solidFill>
                <a:latin typeface="Arial"/>
              </a:rPr>
              <a:t>BRONZE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22B3A"/>
                </a:solidFill>
                <a:latin typeface="Arial"/>
              </a:rPr>
              <a:t>Raw Delta tables — schema drift, raw formats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02552" y="3342132"/>
            <a:ext cx="256032" cy="0"/>
          </a:xfrm>
          <a:prstGeom prst="line">
            <a:avLst/>
          </a:prstGeom>
          <a:ln w="22225">
            <a:solidFill>
              <a:srgbClr val="5A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986016" y="2679192"/>
            <a:ext cx="1389888" cy="1325880"/>
          </a:xfrm>
          <a:prstGeom prst="roundRect">
            <a:avLst>
              <a:gd name="adj" fmla="val 10000"/>
            </a:avLst>
          </a:prstGeom>
          <a:solidFill>
            <a:srgbClr val="EEF1F3"/>
          </a:solidFill>
          <a:ln w="19050">
            <a:solidFill>
              <a:srgbClr val="7E8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7E8A93"/>
                </a:solidFill>
                <a:latin typeface="Arial"/>
              </a:rPr>
              <a:t>SILVER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22B3A"/>
                </a:solidFill>
                <a:latin typeface="Arial"/>
              </a:rPr>
              <a:t>Clean &amp; standardized — MERGE dedup, features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03336" y="3342132"/>
            <a:ext cx="256032" cy="0"/>
          </a:xfrm>
          <a:prstGeom prst="line">
            <a:avLst/>
          </a:prstGeom>
          <a:ln w="22225">
            <a:solidFill>
              <a:srgbClr val="5A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86800" y="2679192"/>
            <a:ext cx="1389888" cy="1325880"/>
          </a:xfrm>
          <a:prstGeom prst="roundRect">
            <a:avLst>
              <a:gd name="adj" fmla="val 10000"/>
            </a:avLst>
          </a:prstGeom>
          <a:solidFill>
            <a:srgbClr val="FAF1D8"/>
          </a:solidFill>
          <a:ln w="19050">
            <a:solidFill>
              <a:srgbClr val="C492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C49218"/>
                </a:solidFill>
                <a:latin typeface="Arial"/>
              </a:rPr>
              <a:t>GOLD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22B3A"/>
                </a:solidFill>
                <a:latin typeface="Arial"/>
              </a:rPr>
              <a:t>Star schema &amp; aggregates — analytics-ready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18888" y="3342132"/>
            <a:ext cx="411480" cy="0"/>
          </a:xfrm>
          <a:prstGeom prst="line">
            <a:avLst/>
          </a:prstGeom>
          <a:ln w="2540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5232" y="1901952"/>
            <a:ext cx="4791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B76"/>
                </a:solidFill>
                <a:latin typeface="Arial"/>
              </a:rPr>
              <a:t>DATABRICKS MEDALLION ARCHITECTURE (DELTA LAKE)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78440" y="2679192"/>
            <a:ext cx="1188720" cy="1325880"/>
          </a:xfrm>
          <a:prstGeom prst="roundRect">
            <a:avLst>
              <a:gd name="adj" fmla="val 10000"/>
            </a:avLst>
          </a:prstGeom>
          <a:solidFill>
            <a:srgbClr val="0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TABLEAU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Live climate dashboards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104119" y="3342132"/>
            <a:ext cx="219457" cy="0"/>
          </a:xfrm>
          <a:prstGeom prst="line">
            <a:avLst/>
          </a:prstGeom>
          <a:ln w="22225">
            <a:solidFill>
              <a:srgbClr val="5A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381744" y="4023359"/>
            <a:ext cx="0" cy="1005841"/>
          </a:xfrm>
          <a:prstGeom prst="line">
            <a:avLst/>
          </a:prstGeom>
          <a:ln w="25400">
            <a:solidFill>
              <a:srgbClr val="C492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06240" y="5029200"/>
            <a:ext cx="5175504" cy="0"/>
          </a:xfrm>
          <a:prstGeom prst="line">
            <a:avLst/>
          </a:prstGeom>
          <a:ln w="19050">
            <a:solidFill>
              <a:srgbClr val="B8C9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06240" y="5029200"/>
            <a:ext cx="0" cy="182880"/>
          </a:xfrm>
          <a:prstGeom prst="line">
            <a:avLst/>
          </a:prstGeom>
          <a:ln w="15875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246120" y="5230368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KMeans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6"/>
                </a:solidFill>
                <a:latin typeface="Arial"/>
              </a:rPr>
              <a:t>4 climate zones (k=4)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272784" y="5029200"/>
            <a:ext cx="0" cy="182880"/>
          </a:xfrm>
          <a:prstGeom prst="line">
            <a:avLst/>
          </a:prstGeom>
          <a:ln w="15875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312664" y="5230368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LSTM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6"/>
                </a:solidFill>
                <a:latin typeface="Arial"/>
              </a:rPr>
              <a:t>next-day temperature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339328" y="5029200"/>
            <a:ext cx="0" cy="182880"/>
          </a:xfrm>
          <a:prstGeom prst="line">
            <a:avLst/>
          </a:prstGeom>
          <a:ln w="15875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379208" y="5230368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Random Forest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6"/>
                </a:solidFill>
                <a:latin typeface="Arial"/>
              </a:rPr>
              <a:t>rainfall (12 features)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405872" y="5029200"/>
            <a:ext cx="0" cy="182880"/>
          </a:xfrm>
          <a:prstGeom prst="line">
            <a:avLst/>
          </a:prstGeom>
          <a:ln w="15875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445752" y="5230368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Linear Regression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6"/>
                </a:solidFill>
                <a:latin typeface="Arial"/>
              </a:rPr>
              <a:t>CO₂/PM2.5 causal test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230368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6"/>
                </a:solidFill>
                <a:latin typeface="Arial"/>
              </a:rPr>
              <a:t>MACHINE LEARNING LAYER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A6B76"/>
                </a:solidFill>
                <a:latin typeface="Arial"/>
              </a:rPr>
              <a:t>trained on Gold-layer features</a:t>
            </a:r>
          </a:p>
        </p:txBody>
      </p:sp>
    </p:spTree>
    <p:extLst>
      <p:ext uri="{BB962C8B-B14F-4D97-AF65-F5344CB8AC3E}">
        <p14:creationId xmlns:p14="http://schemas.microsoft.com/office/powerpoint/2010/main" val="2403536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FDF9D-F048-3E40-90C0-79BFD917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59A9D5C-2020-E816-A705-7FFE944A0A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7736589"/>
              </p:ext>
            </p:extLst>
          </p:nvPr>
        </p:nvGraphicFramePr>
        <p:xfrm>
          <a:off x="838200" y="725214"/>
          <a:ext cx="10515601" cy="56311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6959">
                  <a:extLst>
                    <a:ext uri="{9D8B030D-6E8A-4147-A177-3AD203B41FA5}">
                      <a16:colId xmlns:a16="http://schemas.microsoft.com/office/drawing/2014/main" val="3004730988"/>
                    </a:ext>
                  </a:extLst>
                </a:gridCol>
                <a:gridCol w="1472749">
                  <a:extLst>
                    <a:ext uri="{9D8B030D-6E8A-4147-A177-3AD203B41FA5}">
                      <a16:colId xmlns:a16="http://schemas.microsoft.com/office/drawing/2014/main" val="721974362"/>
                    </a:ext>
                  </a:extLst>
                </a:gridCol>
                <a:gridCol w="1263416">
                  <a:extLst>
                    <a:ext uri="{9D8B030D-6E8A-4147-A177-3AD203B41FA5}">
                      <a16:colId xmlns:a16="http://schemas.microsoft.com/office/drawing/2014/main" val="1854063636"/>
                    </a:ext>
                  </a:extLst>
                </a:gridCol>
                <a:gridCol w="3156312">
                  <a:extLst>
                    <a:ext uri="{9D8B030D-6E8A-4147-A177-3AD203B41FA5}">
                      <a16:colId xmlns:a16="http://schemas.microsoft.com/office/drawing/2014/main" val="3866997714"/>
                    </a:ext>
                  </a:extLst>
                </a:gridCol>
                <a:gridCol w="2736165">
                  <a:extLst>
                    <a:ext uri="{9D8B030D-6E8A-4147-A177-3AD203B41FA5}">
                      <a16:colId xmlns:a16="http://schemas.microsoft.com/office/drawing/2014/main" val="2603591586"/>
                    </a:ext>
                  </a:extLst>
                </a:gridCol>
              </a:tblGrid>
              <a:tr h="777685"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Source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Type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Format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Parameters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API / Access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extLst>
                  <a:ext uri="{0D108BD9-81ED-4DB2-BD59-A6C34878D82A}">
                    <a16:rowId xmlns:a16="http://schemas.microsoft.com/office/drawing/2014/main" val="2302490295"/>
                  </a:ext>
                </a:extLst>
              </a:tr>
              <a:tr h="1358589"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NASA(Power)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Historical EO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CSV, JSON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Temp anomalies, CO₂, satellite imagery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NASA Climate API/Earth data REST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extLst>
                  <a:ext uri="{0D108BD9-81ED-4DB2-BD59-A6C34878D82A}">
                    <a16:rowId xmlns:a16="http://schemas.microsoft.com/office/drawing/2014/main" val="4123801716"/>
                  </a:ext>
                </a:extLst>
              </a:tr>
              <a:tr h="777685"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IMD (India)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GB" sz="1400" dirty="0"/>
                        <a:t>India Meteorological Department (IMD)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CSV, JSON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Rainfall, humidity, monsoon forecasts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IMD Open Data Portal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extLst>
                  <a:ext uri="{0D108BD9-81ED-4DB2-BD59-A6C34878D82A}">
                    <a16:rowId xmlns:a16="http://schemas.microsoft.com/office/drawing/2014/main" val="3770297508"/>
                  </a:ext>
                </a:extLst>
              </a:tr>
              <a:tr h="1358589"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Weather Stack</a:t>
                      </a:r>
                      <a:endParaRPr lang="en-GB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Real-time weather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JSON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Temperature, wind, AQI, sunrise/sunset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REST API (subscription)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extLst>
                  <a:ext uri="{0D108BD9-81ED-4DB2-BD59-A6C34878D82A}">
                    <a16:rowId xmlns:a16="http://schemas.microsoft.com/office/drawing/2014/main" val="3223792138"/>
                  </a:ext>
                </a:extLst>
              </a:tr>
              <a:tr h="1358589"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Kaggle/CMIP6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Historical /model output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CSV    </a:t>
                      </a:r>
                      <a:endParaRPr lang="en-GB" sz="1400">
                        <a:effectLst/>
                      </a:endParaRPr>
                    </a:p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Parquet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Multi-decade climate simulations, sea-level rise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tc>
                  <a:txBody>
                    <a:bodyPr/>
                    <a:lstStyle/>
                    <a:p>
                      <a:pPr indent="144145" algn="ctr" hangingPunct="0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Direct download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 anchor="ctr"/>
                </a:tc>
                <a:extLst>
                  <a:ext uri="{0D108BD9-81ED-4DB2-BD59-A6C34878D82A}">
                    <a16:rowId xmlns:a16="http://schemas.microsoft.com/office/drawing/2014/main" val="1912895355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E93AC-510C-7E3A-4D4E-3C6C018FE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7315201" cy="501650"/>
          </a:xfrm>
        </p:spPr>
        <p:txBody>
          <a:bodyPr/>
          <a:lstStyle/>
          <a:p>
            <a:pPr algn="l"/>
            <a:r>
              <a:rPr lang="en-US" b="1" i="1" dirty="0">
                <a:solidFill>
                  <a:schemeClr val="tx1"/>
                </a:solidFill>
                <a:latin typeface="Comic Sans MS" panose="030F0702030302020204" pitchFamily="66" charset="0"/>
              </a:rPr>
              <a:t>7th International Conference on Data Analytics &amp; Management (ICDAM-2026)</a:t>
            </a:r>
            <a:endParaRPr lang="en-IN" b="1" i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418E9D0-26DC-C50A-662A-05A39894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702" y="373581"/>
            <a:ext cx="72521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444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44463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DS4Earth Data Sources - Integrated Climate APIs and Datasets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371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46F9A-1126-955E-4F79-F84D2E51C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AAADE-8459-FA13-5E60-3D3D90517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2DF44-0D02-F5DB-E192-3FCAE2A3C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114" y="6356350"/>
            <a:ext cx="7402286" cy="389890"/>
          </a:xfrm>
        </p:spPr>
        <p:txBody>
          <a:bodyPr/>
          <a:lstStyle/>
          <a:p>
            <a:pPr algn="l"/>
            <a:r>
              <a:rPr lang="en-US" b="1" i="1" dirty="0">
                <a:solidFill>
                  <a:schemeClr val="tx1"/>
                </a:solidFill>
                <a:latin typeface="Comic Sans MS" panose="030F0702030302020204" pitchFamily="66" charset="0"/>
              </a:rPr>
              <a:t>7th International Conference on Data Analytics &amp; Management (ICDAM-2026)</a:t>
            </a:r>
            <a:endParaRPr lang="en-IN" b="1" i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C51F19-F43C-D25A-90E3-73AECC247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14" y="261258"/>
            <a:ext cx="10515600" cy="581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89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65A82"/>
                </a:solidFill>
                <a:latin typeface="Arial"/>
              </a:rPr>
              <a:t>6. PROPOSED METHODOLOGY (CONTD.) — STAR SCHEMA &amp; DATA MODEL</a:t>
            </a:r>
          </a:p>
        </p:txBody>
      </p:sp>
      <p:sp>
        <p:nvSpPr>
          <p:cNvPr id="15" name="Footer Placeholder 13">
            <a:extLst>
              <a:ext uri="{FF2B5EF4-FFF2-40B4-BE49-F238E27FC236}">
                <a16:creationId xmlns:a16="http://schemas.microsoft.com/office/drawing/2014/main" id="{ADB8911D-998E-158D-FF12-66707BA9B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390" y="6443454"/>
            <a:ext cx="11703854" cy="365125"/>
          </a:xfrm>
        </p:spPr>
        <p:txBody>
          <a:bodyPr/>
          <a:lstStyle/>
          <a:p>
            <a:pPr algn="l"/>
            <a:r>
              <a:rPr lang="en-US" sz="1400" b="1" i="1" dirty="0">
                <a:solidFill>
                  <a:schemeClr val="tx1"/>
                </a:solidFill>
                <a:latin typeface="Comic Sans MS" panose="030F0702030302020204" pitchFamily="66" charset="0"/>
              </a:rPr>
              <a:t>7th International Conference on Data Analytics &amp; Management (ICDAM-2026)</a:t>
            </a:r>
            <a:endParaRPr lang="en-IN" sz="1400" b="1" i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E02DA5-5FA7-BB3E-BE04-1B370A562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644" y="321381"/>
            <a:ext cx="2724644" cy="752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B9D26C-FAE0-AB7A-18FD-4C75CF79F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257" y="463268"/>
            <a:ext cx="2454513" cy="634220"/>
          </a:xfrm>
          <a:prstGeom prst="rect">
            <a:avLst/>
          </a:prstGeom>
        </p:spPr>
      </p:pic>
      <p:pic>
        <p:nvPicPr>
          <p:cNvPr id="7" name="Picture 6" descr="A blue circle with a circle with a circle and a circle with a circle with a circle with a circle with a circle with a circle with a circle with a circle with a circle with a circle  Description automatically generated">
            <a:extLst>
              <a:ext uri="{FF2B5EF4-FFF2-40B4-BE49-F238E27FC236}">
                <a16:creationId xmlns:a16="http://schemas.microsoft.com/office/drawing/2014/main" id="{10E906D4-705C-82A1-C796-5CED477C615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" y="183197"/>
            <a:ext cx="1077023" cy="1077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C58E96-6B3D-BCDE-CAB7-A532326F6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745" y="97053"/>
            <a:ext cx="1386852" cy="11631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FD9C19-31F9-FA64-DA69-B3054619A8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6139" y="324282"/>
            <a:ext cx="1672589" cy="7618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48C7BF-34AD-020D-D9FB-63ADCAED09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1812" y="144529"/>
            <a:ext cx="1262414" cy="1106385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 flipH="1">
            <a:off x="3840480" y="2830068"/>
            <a:ext cx="4572" cy="1467612"/>
          </a:xfrm>
          <a:prstGeom prst="line">
            <a:avLst/>
          </a:prstGeom>
          <a:ln w="19050">
            <a:solidFill>
              <a:srgbClr val="9FB9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60220" y="3314700"/>
            <a:ext cx="2080260" cy="982980"/>
          </a:xfrm>
          <a:prstGeom prst="line">
            <a:avLst/>
          </a:prstGeom>
          <a:ln w="19050">
            <a:solidFill>
              <a:srgbClr val="9FB9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840480" y="3314700"/>
            <a:ext cx="2125980" cy="982980"/>
          </a:xfrm>
          <a:prstGeom prst="line">
            <a:avLst/>
          </a:prstGeom>
          <a:ln w="19050">
            <a:solidFill>
              <a:srgbClr val="9FB9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34540" y="4297680"/>
            <a:ext cx="1805940" cy="1485899"/>
          </a:xfrm>
          <a:prstGeom prst="line">
            <a:avLst/>
          </a:prstGeom>
          <a:ln w="19050">
            <a:solidFill>
              <a:srgbClr val="9FB9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840480" y="4297680"/>
            <a:ext cx="1851660" cy="1485899"/>
          </a:xfrm>
          <a:prstGeom prst="line">
            <a:avLst/>
          </a:prstGeom>
          <a:ln w="19050">
            <a:solidFill>
              <a:srgbClr val="9FB9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16352" y="2395728"/>
            <a:ext cx="2057400" cy="868680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65A82"/>
                </a:solidFill>
                <a:latin typeface="Arial"/>
              </a:rPr>
              <a:t>DIM: 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6"/>
                </a:solidFill>
                <a:latin typeface="Arial"/>
              </a:rPr>
              <a:t>date, month, season, year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880360"/>
            <a:ext cx="1617955" cy="868680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65A82"/>
                </a:solidFill>
                <a:latin typeface="Arial"/>
              </a:rPr>
              <a:t>DIM: LOCATION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6"/>
                </a:solidFill>
                <a:latin typeface="Arial"/>
              </a:rPr>
              <a:t>country, city, lat/long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63464" y="2880360"/>
            <a:ext cx="1631696" cy="868680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 dirty="0">
                <a:solidFill>
                  <a:srgbClr val="065A82"/>
                </a:solidFill>
                <a:latin typeface="Arial"/>
              </a:rPr>
              <a:t>DIM: AIR QUALITY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5A6B76"/>
                </a:solidFill>
                <a:latin typeface="Arial"/>
              </a:rPr>
              <a:t>AQI, CO, PM2.5, NO₂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5349240"/>
            <a:ext cx="2057400" cy="868680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65A82"/>
                </a:solidFill>
                <a:latin typeface="Arial"/>
              </a:rPr>
              <a:t>DIM: SKY CONDITION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6"/>
                </a:solidFill>
                <a:latin typeface="Arial"/>
              </a:rPr>
              <a:t>cloud cover, visibility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5349240"/>
            <a:ext cx="2057400" cy="868680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65A82"/>
                </a:solidFill>
                <a:latin typeface="Arial"/>
              </a:rPr>
              <a:t>DIM: ASTRONOMY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6"/>
                </a:solidFill>
                <a:latin typeface="Arial"/>
              </a:rPr>
              <a:t>sunrise, sunset, moon phase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3703320"/>
            <a:ext cx="2286000" cy="11887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FACT: WEATHER OBSERVATION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5EAF3"/>
                </a:solidFill>
                <a:latin typeface="Arial"/>
              </a:rPr>
              <a:t>20+ measures · surrogate keys to all 5 dimensions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14884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A6B76"/>
                </a:solidFill>
                <a:latin typeface="Arial"/>
              </a:rPr>
              <a:t>GOLD-LAYER STAR SCHEMA (DELTA LAKE)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1488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29A7C"/>
                </a:solidFill>
                <a:latin typeface="Arial"/>
              </a:rPr>
              <a:t>WHY THIS DESIGN SCALES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2560320"/>
            <a:ext cx="3931920" cy="841248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36576" rIns="73152" bIns="36576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5A82"/>
                </a:solidFill>
                <a:latin typeface="Arial"/>
              </a:rPr>
              <a:t>Fewer joins, simpler queries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22B3A"/>
                </a:solidFill>
                <a:latin typeface="Arial"/>
              </a:rPr>
              <a:t>Denormalized star beats normalized schemas for analytics workloads.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3493008"/>
            <a:ext cx="3931920" cy="841248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36576" rIns="73152" bIns="36576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5A82"/>
                </a:solidFill>
                <a:latin typeface="Arial"/>
              </a:rPr>
              <a:t>~35% lower query latency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22B3A"/>
                </a:solidFill>
                <a:latin typeface="Arial"/>
              </a:rPr>
              <a:t>Pre-aggregated Gold views accelerate dashboard and OLAP queries.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4425696"/>
            <a:ext cx="3931920" cy="841248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36576" rIns="73152" bIns="36576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5A82"/>
                </a:solidFill>
                <a:latin typeface="Arial"/>
              </a:rPr>
              <a:t>OLAP slice &amp; dice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22B3A"/>
                </a:solidFill>
                <a:latin typeface="Arial"/>
              </a:rPr>
              <a:t>Analyse by time, location, AQI, sky and astronomy simultaneously.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5358383"/>
            <a:ext cx="3931920" cy="841248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36576" rIns="73152" bIns="36576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5A82"/>
                </a:solidFill>
                <a:latin typeface="Arial"/>
              </a:rPr>
              <a:t>ACID + independent scaling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22B3A"/>
                </a:solidFill>
                <a:latin typeface="Arial"/>
              </a:rPr>
              <a:t>Delta Lake transactions; ingestion, transform and analytics scale separately.</a:t>
            </a:r>
          </a:p>
        </p:txBody>
      </p:sp>
    </p:spTree>
    <p:extLst>
      <p:ext uri="{BB962C8B-B14F-4D97-AF65-F5344CB8AC3E}">
        <p14:creationId xmlns:p14="http://schemas.microsoft.com/office/powerpoint/2010/main" val="2403536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65A82"/>
                </a:solidFill>
                <a:latin typeface="Arial"/>
              </a:rPr>
              <a:t>7. RESULTS &amp; DISCUSSION</a:t>
            </a:r>
          </a:p>
        </p:txBody>
      </p:sp>
      <p:sp>
        <p:nvSpPr>
          <p:cNvPr id="15" name="Footer Placeholder 13">
            <a:extLst>
              <a:ext uri="{FF2B5EF4-FFF2-40B4-BE49-F238E27FC236}">
                <a16:creationId xmlns:a16="http://schemas.microsoft.com/office/drawing/2014/main" id="{31533E7A-E876-6B26-2B58-3EC4E81B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8755" y="6468486"/>
            <a:ext cx="11651767" cy="365125"/>
          </a:xfrm>
        </p:spPr>
        <p:txBody>
          <a:bodyPr/>
          <a:lstStyle/>
          <a:p>
            <a:pPr algn="l"/>
            <a:r>
              <a:rPr lang="en-US" sz="1400" i="1" dirty="0">
                <a:solidFill>
                  <a:schemeClr val="tx1"/>
                </a:solidFill>
                <a:latin typeface="Comic Sans MS" panose="030F0702030302020204" pitchFamily="66" charset="0"/>
              </a:rPr>
              <a:t>7th International Conference on Data Analytics &amp; Management (ICDAM-2026)</a:t>
            </a:r>
            <a:endParaRPr lang="en-IN" sz="1400" i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D96D43-4FC1-EC4D-83B4-E52E9CEC7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644" y="321381"/>
            <a:ext cx="2724644" cy="752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48424E-B68A-EAAE-77D6-60F1EFFCE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257" y="463268"/>
            <a:ext cx="2454513" cy="634220"/>
          </a:xfrm>
          <a:prstGeom prst="rect">
            <a:avLst/>
          </a:prstGeom>
        </p:spPr>
      </p:pic>
      <p:pic>
        <p:nvPicPr>
          <p:cNvPr id="7" name="Picture 6" descr="A blue circle with a circle with a circle and a circle with a circle with a circle with a circle with a circle with a circle with a circle with a circle with a circle with a circle  Description automatically generated">
            <a:extLst>
              <a:ext uri="{FF2B5EF4-FFF2-40B4-BE49-F238E27FC236}">
                <a16:creationId xmlns:a16="http://schemas.microsoft.com/office/drawing/2014/main" id="{3EA8806F-75D8-5B96-36A4-EF44935AFE4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" y="183197"/>
            <a:ext cx="1077023" cy="1077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CF81D4-B2E8-33AE-87CA-C754DF5FB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980" y="97053"/>
            <a:ext cx="1386852" cy="11631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93070C-2267-6C7A-BB1E-B6E42C6C59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7157" y="399432"/>
            <a:ext cx="1672589" cy="7618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FD1E54-EC13-6A6C-5B51-960012B7FC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0396" y="168515"/>
            <a:ext cx="1262414" cy="1106385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746420"/>
              </p:ext>
            </p:extLst>
          </p:nvPr>
        </p:nvGraphicFramePr>
        <p:xfrm>
          <a:off x="685800" y="2194560"/>
          <a:ext cx="1083564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73152" marR="73152" marT="27432" marB="27432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Metrics</a:t>
                      </a:r>
                    </a:p>
                  </a:txBody>
                  <a:tcPr marL="73152" marR="73152" marT="27432" marB="27432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73152" marR="73152" marT="27432" marB="27432" anchor="ctr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LSTM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Temperature forecast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RMSE 1.85 °C · MAE 1.21 °C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Accurate seasonal trend capture; 33.27 °C next-day Delhi, validated vs IMD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Rainfall prediction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RMSE 0.68 mm · MAE 0.42 mm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Reliable low-rain forecasts from 12 weather features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22B3A"/>
                          </a:solidFill>
                          <a:latin typeface="Arial"/>
                        </a:rPr>
                        <a:t>KMeans</a:t>
                      </a:r>
                      <a:r>
                        <a:rPr sz="1100" b="0" dirty="0">
                          <a:solidFill>
                            <a:srgbClr val="122B3A"/>
                          </a:solidFill>
                          <a:latin typeface="Arial"/>
                        </a:rPr>
                        <a:t> (</a:t>
                      </a:r>
                      <a:r>
                        <a:rPr lang="en-GB" sz="1100" b="0" dirty="0">
                          <a:solidFill>
                            <a:srgbClr val="122B3A"/>
                          </a:solidFill>
                          <a:latin typeface="Arial"/>
                        </a:rPr>
                        <a:t>k</a:t>
                      </a:r>
                      <a:r>
                        <a:rPr sz="1100" b="0" dirty="0">
                          <a:solidFill>
                            <a:srgbClr val="122B3A"/>
                          </a:solidFill>
                          <a:latin typeface="Arial"/>
                        </a:rPr>
                        <a:t>=</a:t>
                      </a:r>
                      <a:r>
                        <a:rPr lang="en-GB" sz="1100" b="0" dirty="0">
                          <a:solidFill>
                            <a:srgbClr val="122B3A"/>
                          </a:solidFill>
                          <a:latin typeface="Arial"/>
                        </a:rPr>
                        <a:t>3</a:t>
                      </a:r>
                      <a:r>
                        <a:rPr sz="1100" b="0" dirty="0">
                          <a:solidFill>
                            <a:srgbClr val="122B3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Climate classification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Silhouette 0.61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Four well-separated global climate zones across 150+ countries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Linear Regression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CO₂/PM2.5 causal test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B3A"/>
                          </a:solidFill>
                          <a:latin typeface="Arial"/>
                        </a:rPr>
                        <a:t>R² 0.005 · RMSE 9.25 °C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22B3A"/>
                          </a:solidFill>
                          <a:latin typeface="Arial"/>
                        </a:rPr>
                        <a:t>Local pollution explains ~0.5% of temperature variance — motivates physics-based ML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85800" y="4892040"/>
            <a:ext cx="3502152" cy="1325880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36576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Deep + ensemble models win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22B3A"/>
                </a:solidFill>
                <a:latin typeface="Arial"/>
              </a:rPr>
              <a:t>LSTM captures temporal dependencies and Random Forest suppresses precipitation variance — both clearly beat statistical baselines.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4892040"/>
            <a:ext cx="3502152" cy="1325880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36576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C7293"/>
                </a:solidFill>
                <a:latin typeface="Arial"/>
              </a:rPr>
              <a:t>Medallion is production-robust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22B3A"/>
                </a:solidFill>
                <a:latin typeface="Arial"/>
              </a:rPr>
              <a:t>30-day stress test at 10-minute cycles: all scheduled runs succeeded with stable runtimes and 99.9% uptime.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4892040"/>
            <a:ext cx="3502152" cy="1325880"/>
          </a:xfrm>
          <a:prstGeom prst="roundRect">
            <a:avLst>
              <a:gd name="adj" fmla="val 10000"/>
            </a:avLst>
          </a:prstGeom>
          <a:solidFill>
            <a:srgbClr val="E2F4EF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36576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9A7C"/>
                </a:solidFill>
                <a:latin typeface="Arial"/>
              </a:rPr>
              <a:t>Dashboards close the loop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22B3A"/>
                </a:solidFill>
                <a:latin typeface="Arial"/>
              </a:rPr>
              <a:t>Tableau views (temperature maps, trends, zones, impact vs vulnerability) auto-refresh from the Gold layer.</a:t>
            </a:r>
          </a:p>
        </p:txBody>
      </p:sp>
    </p:spTree>
    <p:extLst>
      <p:ext uri="{BB962C8B-B14F-4D97-AF65-F5344CB8AC3E}">
        <p14:creationId xmlns:p14="http://schemas.microsoft.com/office/powerpoint/2010/main" val="1841468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01B7-8572-5EC8-7D8C-7D3A3841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3435D-06A5-DF60-DA01-EF47CA883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CA54EF-8B66-04D6-2E38-9FB5F8C5D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9440" y="6356350"/>
            <a:ext cx="7553960" cy="136525"/>
          </a:xfrm>
        </p:spPr>
        <p:txBody>
          <a:bodyPr/>
          <a:lstStyle/>
          <a:p>
            <a:pPr algn="l"/>
            <a:r>
              <a:rPr lang="en-US" i="1" dirty="0">
                <a:solidFill>
                  <a:schemeClr val="tx1"/>
                </a:solidFill>
                <a:latin typeface="Comic Sans MS" panose="030F0702030302020204" pitchFamily="66" charset="0"/>
              </a:rPr>
              <a:t>7th International Conference on Data Analytics &amp; Management (ICDAM-2026)</a:t>
            </a:r>
            <a:endParaRPr lang="en-IN" i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9BEC62-6BE3-6C9B-2063-2E3B72851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97" y="365125"/>
            <a:ext cx="11237205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16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87D7-96CC-DEA5-E552-5312371CE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B327F-DED4-6790-D0F3-3D3D136B4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B30C6-2CE9-A676-7141-7AB81C326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7315201" cy="501650"/>
          </a:xfrm>
        </p:spPr>
        <p:txBody>
          <a:bodyPr/>
          <a:lstStyle/>
          <a:p>
            <a:pPr algn="l"/>
            <a:r>
              <a:rPr lang="en-US" b="1" i="1" dirty="0">
                <a:solidFill>
                  <a:schemeClr val="tx1"/>
                </a:solidFill>
                <a:latin typeface="Comic Sans MS" panose="030F0702030302020204" pitchFamily="66" charset="0"/>
              </a:rPr>
              <a:t>7th International Conference on Data Analytics &amp; Management (ICDAM-2026)</a:t>
            </a:r>
            <a:endParaRPr lang="en-IN" b="1" i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Fig. 4. DS4Earth Climate Change Dashboard (Tableau) — Temperature by Country, Monthly Temperature trend, Extreme Weather Events by Season and Climate Zone, and Economic Impact vs. Infrastructure Vulnerability scatter plot." descr="Fig. 4. DS4Earth Climate Change Dashboard (Tableau) — Temperature by Country, Monthly Temperature trend, Extreme Weather Events by Season and Climate Zone, and Economic Impact vs. Infrastructure Vulnerability scatter plot." title="Fig. 4. DS4Earth Climate Change Dashboard (Tableau) — Temperature by Country, Monthly Temperature trend, Extreme Weather Events by Season and Climate Zone, and Economic Impact vs. Infrastructure Vulnerability scatter plot.">
            <a:extLst>
              <a:ext uri="{FF2B5EF4-FFF2-40B4-BE49-F238E27FC236}">
                <a16:creationId xmlns:a16="http://schemas.microsoft.com/office/drawing/2014/main" id="{1D076FBD-6A67-C463-939D-95B3F7B27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199" y="365125"/>
            <a:ext cx="10515599" cy="594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17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65A82"/>
                </a:solidFill>
                <a:latin typeface="Arial"/>
              </a:rPr>
              <a:t>8. COMPARATIVE ANALYSIS</a:t>
            </a:r>
          </a:p>
        </p:txBody>
      </p:sp>
      <p:sp>
        <p:nvSpPr>
          <p:cNvPr id="15" name="Footer Placeholder 13">
            <a:extLst>
              <a:ext uri="{FF2B5EF4-FFF2-40B4-BE49-F238E27FC236}">
                <a16:creationId xmlns:a16="http://schemas.microsoft.com/office/drawing/2014/main" id="{19DB1F3B-EBBB-EAFD-0A83-F7AECA9AC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3144" y="6459872"/>
            <a:ext cx="11730487" cy="365125"/>
          </a:xfrm>
        </p:spPr>
        <p:txBody>
          <a:bodyPr/>
          <a:lstStyle/>
          <a:p>
            <a:pPr algn="l"/>
            <a:r>
              <a:rPr lang="en-US" sz="1400" i="1" dirty="0">
                <a:solidFill>
                  <a:schemeClr val="tx1"/>
                </a:solidFill>
                <a:latin typeface="Comic Sans MS" panose="030F0702030302020204" pitchFamily="66" charset="0"/>
              </a:rPr>
              <a:t>7th International Conference on Data Analytics &amp; Management (ICDAM-2026)</a:t>
            </a:r>
            <a:endParaRPr lang="en-IN" sz="1400" i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3E9D06-C58C-514F-C41B-0E6FC2357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644" y="321381"/>
            <a:ext cx="2724644" cy="752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5E327A-9178-49D6-0FC0-759806A00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257" y="463268"/>
            <a:ext cx="2454513" cy="634220"/>
          </a:xfrm>
          <a:prstGeom prst="rect">
            <a:avLst/>
          </a:prstGeom>
        </p:spPr>
      </p:pic>
      <p:pic>
        <p:nvPicPr>
          <p:cNvPr id="7" name="Picture 6" descr="A blue circle with a circle with a circle and a circle with a circle with a circle with a circle with a circle with a circle with a circle with a circle with a circle with a circle  Description automatically generated">
            <a:extLst>
              <a:ext uri="{FF2B5EF4-FFF2-40B4-BE49-F238E27FC236}">
                <a16:creationId xmlns:a16="http://schemas.microsoft.com/office/drawing/2014/main" id="{5A244E93-744E-AD18-D022-0604A14C49B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" y="183197"/>
            <a:ext cx="1077023" cy="1077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165AE5-7484-ED77-6C49-3A42F8B7D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1434" y="97053"/>
            <a:ext cx="1386852" cy="11631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2E5883-535D-31C8-814B-FA8B4EE6AF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0951" y="333303"/>
            <a:ext cx="1672589" cy="7618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56E850-4121-2C5A-EC02-D3F465A5BC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0385" y="183197"/>
            <a:ext cx="1262414" cy="1106385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5800" y="2194560"/>
          <a:ext cx="108356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73152" marR="73152" marT="27432" marB="27432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73152" marT="27432" marB="27432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DS4Earth Model</a:t>
                      </a:r>
                    </a:p>
                  </a:txBody>
                  <a:tcPr marL="73152" marR="73152" marT="27432" marB="27432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Improvement</a:t>
                      </a:r>
                    </a:p>
                  </a:txBody>
                  <a:tcPr marL="73152" marR="73152" marT="27432" marB="27432" anchor="ctr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22B3A"/>
                          </a:solidFill>
                          <a:latin typeface="Arial"/>
                        </a:rPr>
                        <a:t>Temperature forecast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22B3A"/>
                          </a:solidFill>
                          <a:latin typeface="Arial"/>
                        </a:rPr>
                        <a:t>ARIMA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22B3A"/>
                          </a:solidFill>
                          <a:latin typeface="Arial"/>
                        </a:rPr>
                        <a:t>LSTM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22B3A"/>
                          </a:solidFill>
                          <a:latin typeface="Arial"/>
                        </a:rPr>
                        <a:t>22% lower RMSE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22B3A"/>
                          </a:solidFill>
                          <a:latin typeface="Arial"/>
                        </a:rPr>
                        <a:t>Rainfall prediction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22B3A"/>
                          </a:solidFill>
                          <a:latin typeface="Arial"/>
                        </a:rPr>
                        <a:t>Linear Regression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22B3A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22B3A"/>
                          </a:solidFill>
                          <a:latin typeface="Arial"/>
                        </a:rPr>
                        <a:t>40% lower error</a:t>
                      </a:r>
                    </a:p>
                  </a:txBody>
                  <a:tcPr marL="73152" marR="73152" marT="27432" marB="27432" anchor="ctr"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22B3A"/>
                          </a:solidFill>
                          <a:latin typeface="Arial"/>
                        </a:rPr>
                        <a:t>Climate classification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22B3A"/>
                          </a:solidFill>
                          <a:latin typeface="Arial"/>
                        </a:rPr>
                        <a:t>Rule-based Köppen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22B3A"/>
                          </a:solidFill>
                          <a:latin typeface="Arial"/>
                        </a:rPr>
                        <a:t>KMeans (k=4)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22B3A"/>
                          </a:solidFill>
                          <a:latin typeface="Arial"/>
                        </a:rPr>
                        <a:t>Flexible, data-driven zones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85800" y="4160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6"/>
                </a:solidFill>
                <a:latin typeface="Arial"/>
              </a:rPr>
              <a:t>PREDICTION ERROR vs BASELINE (baseline = 100)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53712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22B3A"/>
                </a:solidFill>
                <a:latin typeface="Arial"/>
              </a:rPr>
              <a:t>Temperature — ARIMA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4553712"/>
            <a:ext cx="4754880" cy="310896"/>
          </a:xfrm>
          <a:prstGeom prst="rect">
            <a:avLst/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80360" y="4553712"/>
            <a:ext cx="4754880" cy="310896"/>
          </a:xfrm>
          <a:prstGeom prst="rect">
            <a:avLst/>
          </a:prstGeom>
          <a:solidFill>
            <a:srgbClr val="7E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79" y="45537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7E8A93"/>
                </a:solidFill>
                <a:latin typeface="Arial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65192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22B3A"/>
                </a:solidFill>
                <a:latin typeface="Arial"/>
              </a:rPr>
              <a:t>Temperature — LSTM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4965192"/>
            <a:ext cx="4754880" cy="310896"/>
          </a:xfrm>
          <a:prstGeom prst="rect">
            <a:avLst/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80360" y="4965192"/>
            <a:ext cx="3708806" cy="31089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80606" y="496519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65A82"/>
                </a:solidFill>
                <a:latin typeface="Arial"/>
              </a:rPr>
              <a:t>78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76672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22B3A"/>
                </a:solidFill>
                <a:latin typeface="Arial"/>
              </a:rPr>
              <a:t>Rainfall — Linear Reg.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5376672"/>
            <a:ext cx="4754880" cy="310896"/>
          </a:xfrm>
          <a:prstGeom prst="rect">
            <a:avLst/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80360" y="5376672"/>
            <a:ext cx="4754880" cy="310896"/>
          </a:xfrm>
          <a:prstGeom prst="rect">
            <a:avLst/>
          </a:prstGeom>
          <a:solidFill>
            <a:srgbClr val="7E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537667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7E8A93"/>
                </a:solidFill>
                <a:latin typeface="Arial"/>
              </a:rPr>
              <a:t>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788152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22B3A"/>
                </a:solidFill>
                <a:latin typeface="Arial"/>
              </a:rPr>
              <a:t>Rainfall — Random Forest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5788152"/>
            <a:ext cx="4754880" cy="310896"/>
          </a:xfrm>
          <a:prstGeom prst="rect">
            <a:avLst/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880360" y="5788152"/>
            <a:ext cx="2852928" cy="310896"/>
          </a:xfrm>
          <a:prstGeom prst="rect">
            <a:avLst/>
          </a:prstGeom>
          <a:solidFill>
            <a:srgbClr val="0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24727" y="578815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29A7C"/>
                </a:solidFill>
                <a:latin typeface="Arial"/>
              </a:rPr>
              <a:t>60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32520" y="4498848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22%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lower RMSE — LSTM vs ARIMA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32520" y="5431536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0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40%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lower error — RF vs Linear Reg.</a:t>
            </a:r>
          </a:p>
        </p:txBody>
      </p:sp>
    </p:spTree>
    <p:extLst>
      <p:ext uri="{BB962C8B-B14F-4D97-AF65-F5344CB8AC3E}">
        <p14:creationId xmlns:p14="http://schemas.microsoft.com/office/powerpoint/2010/main" val="102008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71625"/>
            <a:ext cx="11407806" cy="482029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65A82"/>
                </a:solidFill>
                <a:latin typeface="Arial"/>
              </a:rPr>
              <a:t>9. CONCLUSION &amp; FUTURE WORK</a:t>
            </a:r>
          </a:p>
        </p:txBody>
      </p:sp>
      <p:sp>
        <p:nvSpPr>
          <p:cNvPr id="15" name="Footer Placeholder 13">
            <a:extLst>
              <a:ext uri="{FF2B5EF4-FFF2-40B4-BE49-F238E27FC236}">
                <a16:creationId xmlns:a16="http://schemas.microsoft.com/office/drawing/2014/main" id="{23CDFE78-ED97-1279-FB44-729173AA3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3145" y="6439911"/>
            <a:ext cx="11607378" cy="365125"/>
          </a:xfrm>
        </p:spPr>
        <p:txBody>
          <a:bodyPr/>
          <a:lstStyle/>
          <a:p>
            <a:pPr algn="l"/>
            <a:r>
              <a:rPr lang="en-US" sz="1400" i="1" dirty="0">
                <a:solidFill>
                  <a:schemeClr val="tx1"/>
                </a:solidFill>
                <a:latin typeface="Comic Sans MS" panose="030F0702030302020204" pitchFamily="66" charset="0"/>
              </a:rPr>
              <a:t>7th International Conference on Data Analytics &amp; Management (ICDAM-2026)</a:t>
            </a:r>
            <a:endParaRPr lang="en-IN" sz="1400" i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E2D527-CAF0-32F5-775B-8B18F4C06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644" y="321381"/>
            <a:ext cx="2724644" cy="752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737230-DBAC-08A9-18ED-F21700433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257" y="463268"/>
            <a:ext cx="2454513" cy="634220"/>
          </a:xfrm>
          <a:prstGeom prst="rect">
            <a:avLst/>
          </a:prstGeom>
        </p:spPr>
      </p:pic>
      <p:pic>
        <p:nvPicPr>
          <p:cNvPr id="7" name="Picture 6" descr="A blue circle with a circle with a circle and a circle with a circle with a circle with a circle with a circle with a circle with a circle with a circle with a circle with a circle  Description automatically generated">
            <a:extLst>
              <a:ext uri="{FF2B5EF4-FFF2-40B4-BE49-F238E27FC236}">
                <a16:creationId xmlns:a16="http://schemas.microsoft.com/office/drawing/2014/main" id="{AE650281-3A47-4C4E-9E4D-4D555210365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" y="183197"/>
            <a:ext cx="1077023" cy="1077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A7A986-E1E0-F7FA-B62A-C897EBFBC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7529" y="140124"/>
            <a:ext cx="1386852" cy="11631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F4ED89-655B-FF4F-83A7-AAA9230C4B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7736" y="312173"/>
            <a:ext cx="1672589" cy="7618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9E2479-8A06-0F78-4294-3CA79A769A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680" y="183197"/>
            <a:ext cx="1262414" cy="110638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85800" y="2194560"/>
            <a:ext cx="5303520" cy="3977639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36576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65A82"/>
                </a:solidFill>
                <a:latin typeface="Arial"/>
              </a:rPr>
              <a:t>CONCLUSIONS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 b="1" i="0">
                <a:solidFill>
                  <a:srgbClr val="065A82"/>
                </a:solidFill>
                <a:latin typeface="Arial"/>
              </a:rPr>
              <a:t>▸  </a:t>
            </a:r>
            <a:r>
              <a:rPr sz="1200" b="0" i="0">
                <a:solidFill>
                  <a:srgbClr val="122B3A"/>
                </a:solidFill>
                <a:latin typeface="Arial"/>
              </a:rPr>
              <a:t>DS4Earth shows that cloud-native warehousing (Medallion + star schema), automated ETL, multi-model ML and dashboards can be unified in one production pipeline.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 b="1" i="0">
                <a:solidFill>
                  <a:srgbClr val="065A82"/>
                </a:solidFill>
                <a:latin typeface="Arial"/>
              </a:rPr>
              <a:t>▸  </a:t>
            </a:r>
            <a:r>
              <a:rPr sz="1200" b="0" i="0">
                <a:solidFill>
                  <a:srgbClr val="122B3A"/>
                </a:solidFill>
                <a:latin typeface="Arial"/>
              </a:rPr>
              <a:t>Forecasting works in practice: LSTM (RMSE 1.85 °C) and Random Forest (RMSE 0.68 mm) deliver operationally useful, validated predictions.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 b="1" i="0">
                <a:solidFill>
                  <a:srgbClr val="065A82"/>
                </a:solidFill>
                <a:latin typeface="Arial"/>
              </a:rPr>
              <a:t>▸  </a:t>
            </a:r>
            <a:r>
              <a:rPr sz="1200" b="0" i="0">
                <a:solidFill>
                  <a:srgbClr val="122B3A"/>
                </a:solidFill>
                <a:latin typeface="Arial"/>
              </a:rPr>
              <a:t>Climate zone classification (silhouette 0.61) yields interpretable, policy-relevant regions across 150+ countries.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 b="1" i="0">
                <a:solidFill>
                  <a:srgbClr val="065A82"/>
                </a:solidFill>
                <a:latin typeface="Arial"/>
              </a:rPr>
              <a:t>▸  </a:t>
            </a:r>
            <a:r>
              <a:rPr sz="1200" b="0" i="0">
                <a:solidFill>
                  <a:srgbClr val="122B3A"/>
                </a:solidFill>
                <a:latin typeface="Arial"/>
              </a:rPr>
              <a:t>The pipeline is robust: 30 days of 10-minute cycles with 99.9% uptime and &lt;10-minute data-to-insight latency.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94560"/>
            <a:ext cx="5303520" cy="3977639"/>
          </a:xfrm>
          <a:prstGeom prst="roundRect">
            <a:avLst>
              <a:gd name="adj" fmla="val 10000"/>
            </a:avLst>
          </a:prstGeom>
          <a:solidFill>
            <a:srgbClr val="E9F6F2"/>
          </a:solidFill>
          <a:ln w="9525">
            <a:solidFill>
              <a:srgbClr val="C8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36576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29A7C"/>
                </a:solidFill>
                <a:latin typeface="Arial"/>
              </a:rPr>
              <a:t>FUTURE WORK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 b="1" i="0">
                <a:solidFill>
                  <a:srgbClr val="029A7C"/>
                </a:solidFill>
                <a:latin typeface="Arial"/>
              </a:rPr>
              <a:t>▸  </a:t>
            </a:r>
            <a:r>
              <a:rPr sz="1200" b="0" i="0">
                <a:solidFill>
                  <a:srgbClr val="122B3A"/>
                </a:solidFill>
                <a:latin typeface="Arial"/>
              </a:rPr>
              <a:t>Move beyond weak linear pollution–temperature links (R² 0.005) toward physics-informed, multi-factor ML models.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 b="1" i="0">
                <a:solidFill>
                  <a:srgbClr val="029A7C"/>
                </a:solidFill>
                <a:latin typeface="Arial"/>
              </a:rPr>
              <a:t>▸  </a:t>
            </a:r>
            <a:r>
              <a:rPr sz="1200" b="0" i="0">
                <a:solidFill>
                  <a:srgbClr val="122B3A"/>
                </a:solidFill>
                <a:latin typeface="Arial"/>
              </a:rPr>
              <a:t>Add satellite imagery with CNNs and richer Earth-observation sources to deepen spatial insight.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 b="1" i="0">
                <a:solidFill>
                  <a:srgbClr val="029A7C"/>
                </a:solidFill>
                <a:latin typeface="Arial"/>
              </a:rPr>
              <a:t>▸  </a:t>
            </a:r>
            <a:r>
              <a:rPr sz="1200" b="0" i="0">
                <a:solidFill>
                  <a:srgbClr val="122B3A"/>
                </a:solidFill>
                <a:latin typeface="Arial"/>
              </a:rPr>
              <a:t>Scale district-level advisories for heatwave preparedness, irrigation and flood-risk planning.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 b="1" i="0">
                <a:solidFill>
                  <a:srgbClr val="029A7C"/>
                </a:solidFill>
                <a:latin typeface="Arial"/>
              </a:rPr>
              <a:t>▸  </a:t>
            </a:r>
            <a:r>
              <a:rPr sz="1200" b="0" i="0">
                <a:solidFill>
                  <a:srgbClr val="122B3A"/>
                </a:solidFill>
                <a:latin typeface="Arial"/>
              </a:rPr>
              <a:t>Extend dashboards with real-time alerting and economic impact vs infrastructure-vulnerability analytics.</a:t>
            </a:r>
          </a:p>
        </p:txBody>
      </p:sp>
    </p:spTree>
    <p:extLst>
      <p:ext uri="{BB962C8B-B14F-4D97-AF65-F5344CB8AC3E}">
        <p14:creationId xmlns:p14="http://schemas.microsoft.com/office/powerpoint/2010/main" val="1184327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33550"/>
            <a:ext cx="11407806" cy="465837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 dirty="0">
                <a:solidFill>
                  <a:srgbClr val="065A82"/>
                </a:solidFill>
                <a:latin typeface="Arial"/>
              </a:rPr>
              <a:t>10. REFERENCES</a:t>
            </a:r>
          </a:p>
        </p:txBody>
      </p:sp>
      <p:sp>
        <p:nvSpPr>
          <p:cNvPr id="15" name="Footer Placeholder 13">
            <a:extLst>
              <a:ext uri="{FF2B5EF4-FFF2-40B4-BE49-F238E27FC236}">
                <a16:creationId xmlns:a16="http://schemas.microsoft.com/office/drawing/2014/main" id="{BF144450-86CC-F97F-1749-EBE9F7610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6837" y="6461449"/>
            <a:ext cx="11987815" cy="321455"/>
          </a:xfrm>
        </p:spPr>
        <p:txBody>
          <a:bodyPr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1400" i="1" dirty="0">
                <a:solidFill>
                  <a:schemeClr val="tx1"/>
                </a:solidFill>
                <a:latin typeface="Comic Sans MS" panose="030F0702030302020204" pitchFamily="66" charset="0"/>
              </a:rPr>
              <a:t>7</a:t>
            </a:r>
            <a:r>
              <a:rPr lang="en-US" sz="1050" dirty="0">
                <a:solidFill>
                  <a:srgbClr val="122B3A"/>
                </a:solidFill>
                <a:latin typeface="Arial"/>
              </a:rPr>
              <a:t>th International Conference on Data Analytics &amp; Management (ICDAM-2026)</a:t>
            </a:r>
            <a:endParaRPr lang="en-IN" sz="1050" dirty="0">
              <a:solidFill>
                <a:srgbClr val="122B3A"/>
              </a:solid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340FA4-308F-E761-6159-C4C29D37D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644" y="321381"/>
            <a:ext cx="2724644" cy="752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71BA69-1D51-F14B-2B6B-969F7CD89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257" y="463268"/>
            <a:ext cx="2454513" cy="634220"/>
          </a:xfrm>
          <a:prstGeom prst="rect">
            <a:avLst/>
          </a:prstGeom>
        </p:spPr>
      </p:pic>
      <p:pic>
        <p:nvPicPr>
          <p:cNvPr id="7" name="Picture 6" descr="A blue circle with a circle with a circle and a circle with a circle with a circle with a circle with a circle with a circle with a circle with a circle with a circle with a circle  Description automatically generated">
            <a:extLst>
              <a:ext uri="{FF2B5EF4-FFF2-40B4-BE49-F238E27FC236}">
                <a16:creationId xmlns:a16="http://schemas.microsoft.com/office/drawing/2014/main" id="{806BEF6E-219B-E640-BEF0-6DF150B1178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" y="183197"/>
            <a:ext cx="1077023" cy="1077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177065-C5DF-E5A8-270A-56E5D6065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3379" y="116138"/>
            <a:ext cx="1386852" cy="11631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AC4118-20D4-F977-C0F2-B95BFBCE56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1768" y="399432"/>
            <a:ext cx="1672589" cy="7618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CDF5B3-17B2-6BD4-F34D-AD72DBE30C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894" y="111535"/>
            <a:ext cx="1262414" cy="11063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2194560"/>
            <a:ext cx="5349240" cy="4314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 dirty="0">
                <a:solidFill>
                  <a:srgbClr val="122B3A"/>
                </a:solidFill>
                <a:latin typeface="Arial"/>
              </a:rPr>
              <a:t>[1] IPCC (2023). AR6 Synthesis Report: Climate Change 2023. IPCC, Geneva.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 dirty="0">
                <a:solidFill>
                  <a:srgbClr val="122B3A"/>
                </a:solidFill>
                <a:latin typeface="Arial"/>
              </a:rPr>
              <a:t>[2] Armbrust, M. et al. (2020). Delta Lake: High-performance ACID table storage over cloud object stores. Proc. VLDB, 13(12), 3411–3424.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 dirty="0">
                <a:solidFill>
                  <a:srgbClr val="122B3A"/>
                </a:solidFill>
                <a:latin typeface="Arial"/>
              </a:rPr>
              <a:t>[3] Hsieh, W. W. (2022). Introduction to Environmental Data Science. Cambridge University Press.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 dirty="0">
                <a:solidFill>
                  <a:srgbClr val="122B3A"/>
                </a:solidFill>
                <a:latin typeface="Arial"/>
              </a:rPr>
              <a:t>[4] Camps-Valls, G. et al. (2019). Deep Learning for the Earth Sciences. Wiley-Blackwell.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 dirty="0">
                <a:solidFill>
                  <a:srgbClr val="122B3A"/>
                </a:solidFill>
                <a:latin typeface="Arial"/>
              </a:rPr>
              <a:t>[5] ESA / NASA / Copernicus (2024). Integrating Machine Learning with Environmental Big Data. Joint Technical Report.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 dirty="0">
                <a:solidFill>
                  <a:srgbClr val="122B3A"/>
                </a:solidFill>
                <a:latin typeface="Arial"/>
              </a:rPr>
              <a:t>[6] Salami, S. (2025). Hub-Star Modelling 2.0 for Medallion Architecture. Technical Paper.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 dirty="0">
                <a:solidFill>
                  <a:srgbClr val="122B3A"/>
                </a:solidFill>
                <a:latin typeface="Arial"/>
              </a:rPr>
              <a:t>[7] Hochreiter, S. &amp; </a:t>
            </a:r>
            <a:r>
              <a:rPr sz="1050" b="0" i="0" dirty="0" err="1">
                <a:solidFill>
                  <a:srgbClr val="122B3A"/>
                </a:solidFill>
                <a:latin typeface="Arial"/>
              </a:rPr>
              <a:t>Schmidhuber</a:t>
            </a:r>
            <a:r>
              <a:rPr sz="1050" b="0" i="0" dirty="0">
                <a:solidFill>
                  <a:srgbClr val="122B3A"/>
                </a:solidFill>
                <a:latin typeface="Arial"/>
              </a:rPr>
              <a:t>, J. (1997). Long short-term memory. Neural Computation, 9(8), 1735–1780.</a:t>
            </a:r>
            <a:endParaRPr lang="en-GB" sz="1050" b="0" i="0" dirty="0">
              <a:solidFill>
                <a:srgbClr val="122B3A"/>
              </a:solidFill>
              <a:latin typeface="Arial"/>
            </a:endParaRPr>
          </a:p>
          <a:p>
            <a:pPr lvl="0">
              <a:lnSpc>
                <a:spcPct val="110000"/>
              </a:lnSpc>
              <a:spcAft>
                <a:spcPts val="800"/>
              </a:spcAft>
            </a:pPr>
            <a:r>
              <a:rPr lang="en-US" sz="1050" dirty="0">
                <a:solidFill>
                  <a:srgbClr val="122B3A"/>
                </a:solidFill>
                <a:latin typeface="Arial"/>
              </a:rPr>
              <a:t>[8] Menke, W. &amp; Menke, J. (2022). Environmental Data Analysis with MATLAB and Python. Elsevier.</a:t>
            </a:r>
            <a:endParaRPr lang="en-GB" sz="1050" dirty="0">
              <a:solidFill>
                <a:srgbClr val="122B3A"/>
              </a:solidFill>
              <a:latin typeface="Arial"/>
            </a:endParaRPr>
          </a:p>
          <a:p>
            <a:pPr lvl="0">
              <a:lnSpc>
                <a:spcPct val="110000"/>
              </a:lnSpc>
              <a:spcAft>
                <a:spcPts val="800"/>
              </a:spcAft>
            </a:pPr>
            <a:r>
              <a:rPr lang="en-US" sz="1050" dirty="0">
                <a:solidFill>
                  <a:srgbClr val="122B3A"/>
                </a:solidFill>
                <a:latin typeface="Arial"/>
              </a:rPr>
              <a:t>[9] BITS Pilani (2025). Dissertation: A Data Science Approach to AI-Powered Climate Change Insights: DS4Earth. . Pilani Campus, Rajasthan.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GB" sz="1050" dirty="0">
                <a:solidFill>
                  <a:srgbClr val="122B3A"/>
                </a:solidFill>
                <a:latin typeface="Arial"/>
              </a:rPr>
              <a:t>[10] Research Paper: Hub-Star </a:t>
            </a:r>
            <a:r>
              <a:rPr lang="en-GB" sz="1050" dirty="0" err="1">
                <a:solidFill>
                  <a:srgbClr val="122B3A"/>
                </a:solidFill>
                <a:latin typeface="Arial"/>
              </a:rPr>
              <a:t>Modeling</a:t>
            </a:r>
            <a:r>
              <a:rPr lang="en-GB" sz="1050" dirty="0">
                <a:solidFill>
                  <a:srgbClr val="122B3A"/>
                </a:solidFill>
                <a:latin typeface="Arial"/>
              </a:rPr>
              <a:t> 2.0 for Medallion Architecture, Authors: Shahram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GB" sz="1050" dirty="0">
                <a:solidFill>
                  <a:srgbClr val="122B3A"/>
                </a:solidFill>
                <a:latin typeface="Arial"/>
              </a:rPr>
              <a:t>Salami-Sydney, Australia, Published: April , 2025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sz="1050" b="0" i="0" dirty="0">
              <a:solidFill>
                <a:srgbClr val="122B3A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50640" y="2194560"/>
            <a:ext cx="5262239" cy="4136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 dirty="0">
                <a:solidFill>
                  <a:srgbClr val="122B3A"/>
                </a:solidFill>
                <a:latin typeface="Arial"/>
              </a:rPr>
              <a:t>[</a:t>
            </a:r>
            <a:r>
              <a:rPr lang="en-GB" sz="1050" b="0" i="0" dirty="0">
                <a:solidFill>
                  <a:srgbClr val="122B3A"/>
                </a:solidFill>
                <a:latin typeface="Arial"/>
              </a:rPr>
              <a:t>11</a:t>
            </a:r>
            <a:r>
              <a:rPr sz="1050" b="0" i="0" dirty="0">
                <a:solidFill>
                  <a:srgbClr val="122B3A"/>
                </a:solidFill>
                <a:latin typeface="Arial"/>
              </a:rPr>
              <a:t>] </a:t>
            </a:r>
            <a:r>
              <a:rPr sz="1050" b="0" i="0" dirty="0" err="1">
                <a:solidFill>
                  <a:srgbClr val="122B3A"/>
                </a:solidFill>
                <a:latin typeface="Arial"/>
              </a:rPr>
              <a:t>Breiman</a:t>
            </a:r>
            <a:r>
              <a:rPr sz="1050" b="0" i="0" dirty="0">
                <a:solidFill>
                  <a:srgbClr val="122B3A"/>
                </a:solidFill>
                <a:latin typeface="Arial"/>
              </a:rPr>
              <a:t>, L. (2001). Random forests. Machine Learning, 45(1), 5–33.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 dirty="0">
                <a:solidFill>
                  <a:srgbClr val="122B3A"/>
                </a:solidFill>
                <a:latin typeface="Arial"/>
              </a:rPr>
              <a:t>[</a:t>
            </a:r>
            <a:r>
              <a:rPr lang="en-GB" sz="1050" b="0" i="0" dirty="0">
                <a:solidFill>
                  <a:srgbClr val="122B3A"/>
                </a:solidFill>
                <a:latin typeface="Arial"/>
              </a:rPr>
              <a:t>12</a:t>
            </a:r>
            <a:r>
              <a:rPr sz="1050" b="0" i="0" dirty="0">
                <a:solidFill>
                  <a:srgbClr val="122B3A"/>
                </a:solidFill>
                <a:latin typeface="Arial"/>
              </a:rPr>
              <a:t>] MacQueen, J. (1967). Some methods for classification and analysis of multivariate observations. Proc. 5th Berkeley Symposium, 1, 281–297.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 dirty="0">
                <a:solidFill>
                  <a:srgbClr val="122B3A"/>
                </a:solidFill>
                <a:latin typeface="Arial"/>
              </a:rPr>
              <a:t>[1</a:t>
            </a:r>
            <a:r>
              <a:rPr lang="en-GB" sz="1050" b="0" i="0" dirty="0">
                <a:solidFill>
                  <a:srgbClr val="122B3A"/>
                </a:solidFill>
                <a:latin typeface="Arial"/>
              </a:rPr>
              <a:t>3</a:t>
            </a:r>
            <a:r>
              <a:rPr sz="1050" b="0" i="0" dirty="0">
                <a:solidFill>
                  <a:srgbClr val="122B3A"/>
                </a:solidFill>
                <a:latin typeface="Arial"/>
              </a:rPr>
              <a:t>] World Bank (2022). India Climate and Development Report. World Bank Group, Washington DC.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 dirty="0">
                <a:solidFill>
                  <a:srgbClr val="122B3A"/>
                </a:solidFill>
                <a:latin typeface="Arial"/>
              </a:rPr>
              <a:t>[1</a:t>
            </a:r>
            <a:r>
              <a:rPr lang="en-GB" sz="1050" b="0" i="0" dirty="0">
                <a:solidFill>
                  <a:srgbClr val="122B3A"/>
                </a:solidFill>
                <a:latin typeface="Arial"/>
              </a:rPr>
              <a:t>4</a:t>
            </a:r>
            <a:r>
              <a:rPr sz="1050" b="0" i="0" dirty="0">
                <a:solidFill>
                  <a:srgbClr val="122B3A"/>
                </a:solidFill>
                <a:latin typeface="Arial"/>
              </a:rPr>
              <a:t>] NASA GISS Surface Temperature Analysis (GISTEMP v4). https://data.giss.nasa.gov/gistemp.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 dirty="0">
                <a:solidFill>
                  <a:srgbClr val="122B3A"/>
                </a:solidFill>
                <a:latin typeface="Arial"/>
              </a:rPr>
              <a:t>[1</a:t>
            </a:r>
            <a:r>
              <a:rPr lang="en-GB" sz="1050" b="0" i="0" dirty="0">
                <a:solidFill>
                  <a:srgbClr val="122B3A"/>
                </a:solidFill>
                <a:latin typeface="Arial"/>
              </a:rPr>
              <a:t>5</a:t>
            </a:r>
            <a:r>
              <a:rPr sz="1050" b="0" i="0" dirty="0">
                <a:solidFill>
                  <a:srgbClr val="122B3A"/>
                </a:solidFill>
                <a:latin typeface="Arial"/>
              </a:rPr>
              <a:t>] IMD Open Data Portal. https://mausam.imd.gov.in.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 dirty="0">
                <a:solidFill>
                  <a:srgbClr val="122B3A"/>
                </a:solidFill>
                <a:latin typeface="Arial"/>
              </a:rPr>
              <a:t>[1</a:t>
            </a:r>
            <a:r>
              <a:rPr lang="en-GB" sz="1050" b="0" i="0" dirty="0">
                <a:solidFill>
                  <a:srgbClr val="122B3A"/>
                </a:solidFill>
                <a:latin typeface="Arial"/>
              </a:rPr>
              <a:t>6</a:t>
            </a:r>
            <a:r>
              <a:rPr sz="1050" b="0" i="0" dirty="0">
                <a:solidFill>
                  <a:srgbClr val="122B3A"/>
                </a:solidFill>
                <a:latin typeface="Arial"/>
              </a:rPr>
              <a:t>] Weather Stack Real-Time Weather API. https://weatherstack.com/documentation.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 dirty="0">
                <a:solidFill>
                  <a:srgbClr val="122B3A"/>
                </a:solidFill>
                <a:latin typeface="Arial"/>
              </a:rPr>
              <a:t>[1</a:t>
            </a:r>
            <a:r>
              <a:rPr lang="en-GB" sz="1050" b="0" i="0" dirty="0">
                <a:solidFill>
                  <a:srgbClr val="122B3A"/>
                </a:solidFill>
                <a:latin typeface="Arial"/>
              </a:rPr>
              <a:t>7</a:t>
            </a:r>
            <a:r>
              <a:rPr sz="1050" b="0" i="0" dirty="0">
                <a:solidFill>
                  <a:srgbClr val="122B3A"/>
                </a:solidFill>
                <a:latin typeface="Arial"/>
              </a:rPr>
              <a:t>] McKinney, W. (2022). Python for Data Analysis (3rd ed.). O'Reilly Media.</a:t>
            </a:r>
            <a:endParaRPr lang="en-GB" sz="1050" b="0" i="0" dirty="0">
              <a:solidFill>
                <a:srgbClr val="122B3A"/>
              </a:solidFill>
              <a:latin typeface="Arial"/>
            </a:endParaRPr>
          </a:p>
          <a:p>
            <a:pPr lvl="0">
              <a:lnSpc>
                <a:spcPct val="110000"/>
              </a:lnSpc>
              <a:spcAft>
                <a:spcPts val="800"/>
              </a:spcAft>
            </a:pPr>
            <a:r>
              <a:rPr lang="en-US" sz="1050" dirty="0">
                <a:solidFill>
                  <a:srgbClr val="122B3A"/>
                </a:solidFill>
                <a:latin typeface="Arial"/>
              </a:rPr>
              <a:t>[18] IMD Open Data Portal. https://mausam.imd.gov.in. Accessed August 2025.</a:t>
            </a:r>
            <a:endParaRPr lang="en-GB" sz="1050" dirty="0">
              <a:solidFill>
                <a:srgbClr val="122B3A"/>
              </a:solidFill>
              <a:latin typeface="Arial"/>
            </a:endParaRPr>
          </a:p>
          <a:p>
            <a:pPr lvl="0">
              <a:lnSpc>
                <a:spcPct val="110000"/>
              </a:lnSpc>
              <a:spcAft>
                <a:spcPts val="800"/>
              </a:spcAft>
            </a:pPr>
            <a:r>
              <a:rPr lang="en-US" sz="1050" dirty="0">
                <a:solidFill>
                  <a:srgbClr val="122B3A"/>
                </a:solidFill>
                <a:latin typeface="Arial"/>
              </a:rPr>
              <a:t>[19] Open Weather Map API Documentation.  https://openweathermap.org/api. Accessed August 2025. </a:t>
            </a:r>
            <a:endParaRPr lang="en-GB" sz="1050" dirty="0">
              <a:solidFill>
                <a:srgbClr val="122B3A"/>
              </a:solidFill>
              <a:latin typeface="Arial"/>
            </a:endParaRP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US" sz="1050" dirty="0">
                <a:solidFill>
                  <a:srgbClr val="122B3A"/>
                </a:solidFill>
                <a:latin typeface="Arial"/>
              </a:rPr>
              <a:t> [20] </a:t>
            </a:r>
            <a:r>
              <a:rPr lang="en-GB" sz="1050" dirty="0">
                <a:solidFill>
                  <a:srgbClr val="122B3A"/>
                </a:solidFill>
                <a:latin typeface="Arial"/>
              </a:rPr>
              <a:t>Paper: Predicting Air Pollution Using Hybrid LSTM and CNN Models, Wang(2022),Combines LSTM and CNN to forecast PM2.5 and PM10 levels in urban areas based on weather and industrial data.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sz="1050" b="0" i="0" dirty="0">
              <a:solidFill>
                <a:srgbClr val="122B3A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419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2135</Words>
  <Application>Microsoft Office PowerPoint</Application>
  <PresentationFormat>Widescreen</PresentationFormat>
  <Paragraphs>292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Comic Sans MS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Rajesh Kumar Singh</cp:lastModifiedBy>
  <cp:revision>29</cp:revision>
  <dcterms:created xsi:type="dcterms:W3CDTF">2021-02-05T14:09:33Z</dcterms:created>
  <dcterms:modified xsi:type="dcterms:W3CDTF">2026-07-06T21:14:11Z</dcterms:modified>
</cp:coreProperties>
</file>